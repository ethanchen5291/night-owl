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9774a3cc7bc4b72" /><Relationship Type="http://schemas.openxmlformats.org/officeDocument/2006/relationships/extended-properties" Target="/docProps/app.xml" Id="Ra025cfd74d9a4ba5" /><Relationship Type="http://schemas.openxmlformats.org/officeDocument/2006/relationships/officeDocument" Target="/ppt/presentation.xml" Id="R8b41e0b8e43d4895" /></Relationships>
</file>

<file path=ppt/presentation.xml><?xml version="1.0" encoding="utf-8"?>
<p:presentation xmlns:p="http://schemas.openxmlformats.org/presentationml/2006/main">
  <p:sldMasterIdLst>
    <p:sldMasterId xmlns:r="http://schemas.openxmlformats.org/officeDocument/2006/relationships" id="2147483648" r:id="Rea19f3e3dde74963"/>
  </p:sldMasterIdLst>
  <p:notesMasterIdLst>
    <p:notesMasterId xmlns:r="http://schemas.openxmlformats.org/officeDocument/2006/relationships" r:id="R38346c9af12147d4"/>
  </p:notesMasterIdLst>
  <p:sldIdLst>
    <p:sldId xmlns:r="http://schemas.openxmlformats.org/officeDocument/2006/relationships" id="256" r:id="R2fa2e55dbee54960"/>
    <p:sldId xmlns:r="http://schemas.openxmlformats.org/officeDocument/2006/relationships" id="257" r:id="Rf819ef41912340ae"/>
    <p:sldId xmlns:r="http://schemas.openxmlformats.org/officeDocument/2006/relationships" id="258" r:id="R95b329a758554c62"/>
    <p:sldId xmlns:r="http://schemas.openxmlformats.org/officeDocument/2006/relationships" id="259" r:id="R1fb3bb713ac440fe"/>
    <p:sldId xmlns:r="http://schemas.openxmlformats.org/officeDocument/2006/relationships" id="260" r:id="R80c806db59574e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3bdb3eda044339" /><Relationship Type="http://schemas.openxmlformats.org/officeDocument/2006/relationships/slideMaster" Target="/ppt/slideMasters/slideMaster1.xml" Id="Rea19f3e3dde74963" /><Relationship Type="http://schemas.openxmlformats.org/officeDocument/2006/relationships/notesMaster" Target="/ppt/notesMasters/notesMaster1.xml" Id="R38346c9af12147d4" /><Relationship Type="http://schemas.openxmlformats.org/officeDocument/2006/relationships/presProps" Target="/ppt/presProps.xml" Id="R79aebe839ae342e1" /><Relationship Type="http://schemas.openxmlformats.org/officeDocument/2006/relationships/tableStyles" Target="/ppt/tableStyles.xml" Id="R45e9eadc91f04816" /><Relationship Type="http://schemas.openxmlformats.org/officeDocument/2006/relationships/slide" Target="/ppt/slides/slide1.xml" Id="R2fa2e55dbee54960" /><Relationship Type="http://schemas.openxmlformats.org/officeDocument/2006/relationships/slide" Target="/ppt/slides/slide2.xml" Id="Rf819ef41912340ae" /><Relationship Type="http://schemas.openxmlformats.org/officeDocument/2006/relationships/slide" Target="/ppt/slides/slide3.xml" Id="R95b329a758554c62" /><Relationship Type="http://schemas.openxmlformats.org/officeDocument/2006/relationships/slide" Target="/ppt/slides/slide4.xml" Id="R1fb3bb713ac440fe" /><Relationship Type="http://schemas.openxmlformats.org/officeDocument/2006/relationships/slide" Target="/ppt/slides/slide5.xml" Id="R80c806db59574e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6f2d8bdc0c4f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f4e99ba2fd42a9" /><Relationship Type="http://schemas.openxmlformats.org/officeDocument/2006/relationships/notesMaster" Target="/ppt/notesMasters/notesMaster1.xml" Id="R74d8193a107b4c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24ffc6cbc744da" /><Relationship Type="http://schemas.openxmlformats.org/officeDocument/2006/relationships/notesMaster" Target="/ppt/notesMasters/notesMaster1.xml" Id="R888ad5cabe7148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24bcf9aeb549d3" /><Relationship Type="http://schemas.openxmlformats.org/officeDocument/2006/relationships/notesMaster" Target="/ppt/notesMasters/notesMaster1.xml" Id="R6abdcfeabd194c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76381f9fc348e5" /><Relationship Type="http://schemas.openxmlformats.org/officeDocument/2006/relationships/notesMaster" Target="/ppt/notesMasters/notesMaster1.xml" Id="Rf03707be5f9d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a17b7768924a88" /><Relationship Type="http://schemas.openxmlformats.org/officeDocument/2006/relationships/notesMaster" Target="/ppt/notesMasters/notesMaster1.xml" Id="R99f5da1076a24d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has 20 candidate tree sites in its current export. The table prop is room-lit. In an earlier local Mac replay using the V2 detector, original camera footage from zoom15_b at 59–63 seconds passed through the exported ONNX model, the Pi Detector class and its three-hit rules, crop generation, and the local API. Exactly one event at confidence 0.860 was accepted. The served cell score moved from 0.0923 to 0.1297; the plan candidate moved from rank 11 to 2. The frontend screenshot showed the crop, one sighting, and rank 2. V5 has separate detector development results but has not been verified through the same API path. The earlier software loop used saved video on a Mac. V5 also ran on a saved frame on the physical Pi; positive live-camera detection remains unverified. PIR only wakes capture; the detector decides. Team-reported IR capture does not validate the model under IR. An accepted event updates a chosen Beta prior and can rerank candidates; it does not retrain Model B. If demonstrating from recorded footage on stage, name it as recorded. A physical Pi trigger can be shown only if it works in a fresh test.</a:t>
            </a:r>
          </a:p>
          <a:p xmlns:a="http://schemas.openxmlformats.org/drawingml/2006/main">
            <a:r>
              <a:t/>
            </a:r>
          </a:p>
          <a:p xmlns:a="http://schemas.openxmlformats.org/drawingml/2006/main">
            <a:r>
              <a:t>Source: vision/replay_video.py; vision/RUNBOOK.md; vision/TRAINING_RESULTS.md; model/out/plan.json; api/posterior.py; team local replay and frontend screenshot 2026-09-26; team physical-rig photo IMG_1788.jpeg 2026-09-26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honest state. The data exports, model scores, and sweep backtest exist. Teammates report working Pi 5 camera, PIR, and infrared capture; the prop footage is room-lit. V4 scored rat AP50 .925806 on 59 adjacent frames from the same camera session, then .882675 on 439 reviewed new-room frames, below the .90 box target. Its recorded replay missed a parked plush and fired once on a dark case. V5 used those prior new-room clips as development data. The locked V5 checkpoint reached .960806 rat AP50 on its weakest selected development clip and .975279 combined over 146 development frames. A frozen fresh test of 369 reviewed frames measured .615779 rat AP50 and .492688 person AP50 as run, with .703102 rat AP50 on the positive clip; PyTorch and ONNX AP matched exactly. Completed source-only review of all 193 positive sampled frames found shifted and oversized rat reference boxes. Thirty-one source-estimated correction proposals are drafts and were not adopted or rescored; the frozen labels, model settings, and original report remain unchanged. The .615779 figure is the as-run score with known annotation defects, not a corrected performance estimate. The as-run test did not establish the .90 rat-box target. The fresh replay emitted 34 events in the positive clip; independent review of every saved event crop beside its source frame confirmed all 34 target the visible plush. The negative clip emitted zero events over 175.937 seconds. These are repeated firings across only two complete coarse positive presences, not 34 independent encounters or a 20-push recall test. The negative clip is shorter than three minutes, so the formal event gate is incomplete. The second presence first alerted 58.890 seconds after its start, largely while the plush was near the image edge. Source-only annotation QC is complete; the 31 proposed corrections remain unadopted. The V5 ONNX ran on a saved plush frame on the physical Pi at 60.23 milliseconds median, confidence .931. A separate earlier Mac replay using V2 footage carried one accepted event through detector rules and local API to the visible map. A later Pi live-camera trial had no plush target; positive live-camera integration is pending. AP50 is a box detection measure, not accuracy or rat population prevalence. No IR or wild-rat detector test and no field deployment have been done. An accepted event updates a chosen prior and can change candidate order; it does not retrain Model B. Improve the detector and repeat a frozen test before a field pilot.</a:t>
            </a:r>
          </a:p>
          <a:p xmlns:a="http://schemas.openxmlformats.org/drawingml/2006/main">
            <a:r>
              <a:t/>
            </a:r>
          </a:p>
          <a:p xmlns:a="http://schemas.openxmlformats.org/drawingml/2006/main">
            <a:r>
              <a:t>Source: vision/V5_FRESH_RESULTS.md (completed crop and source-only annotation reviews; 31 correction proposals unadopted); pitch/evidence/v5-fresh-test-provisional.json (frozen as-run box scores); vision/artifacts/rat-litroom-v5-development-candidate-20260927.zip: reports/metrics.json, reports/candidate_lock.json, reports/dev_replay, reports/pi_saved_frame_smoke.json; vision/artifacts/rat-litroom-v4-new-room-evaluation-20260927.zip; model/out/backtest.json; api/posterior.py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bdcd198c6e45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9dbc372244d1e" /><Relationship Type="http://schemas.openxmlformats.org/officeDocument/2006/relationships/slideLayout" Target="/ppt/slideLayouts/slideLayout1.xml" Id="R76e82d3e074648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e82d3e074648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d62c51b4dc4337" /><Relationship Type="http://schemas.openxmlformats.org/officeDocument/2006/relationships/notesSlide" Target="/ppt/notesSlides/notesSlide1.xml" Id="R04edc222fccf40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495b78b2c2427a" /><Relationship Type="http://schemas.openxmlformats.org/officeDocument/2006/relationships/notesSlide" Target="/ppt/notesSlides/notesSlide2.xml" Id="R48fe33be675b4d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8a06ad3e7d480b" /><Relationship Type="http://schemas.openxmlformats.org/officeDocument/2006/relationships/chart" Target="/ppt/slides/charts/chart1.xml" Id="R95713cd26791458b" /><Relationship Type="http://schemas.openxmlformats.org/officeDocument/2006/relationships/notesSlide" Target="/ppt/notesSlides/notesSlide3.xml" Id="R684f6f46f30e4a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9a53ff076a494d" /><Relationship Type="http://schemas.openxmlformats.org/officeDocument/2006/relationships/image" Target="/ppt/media/image.jpeg" Id="Rfdb1f247d32e4f90" /><Relationship Type="http://schemas.openxmlformats.org/officeDocument/2006/relationships/notesSlide" Target="/ppt/notesSlides/notesSlide4.xml" Id="R69c40a4647cd44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bca4e098124892" /><Relationship Type="http://schemas.openxmlformats.org/officeDocument/2006/relationships/notesSlide" Target="/ppt/notesSlides/notesSlide5.xml" Id="R1906acf3858045a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81220B-4A27-4B45-8411-04DDB2317B12}"/>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14C07EC2-91CE-4E97-B156-7D52AE18B4AE}"/>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2F3747AF-1D21-4F1A-952D-6067F0CF6779}"/>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885174-40C0-4A6A-8117-58F09A262B0E}"/>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319C17AC-46FC-4C1B-AF6D-602B1A1E38A6}"/>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1802531820"/>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9005953-E717-4C0F-9A2B-44F04F0AA729}"/>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ED35EA4C-804B-4CB7-8F55-D27573915224}"/>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EBEB34-BBB0-494D-A183-5FABED99B649}"/>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F8F97D8A-5A93-4130-95AB-981F7B6C6C6C}"/>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432F0D00-688A-4878-B7B1-D93BD9E4ACD0}"/>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0E5BF963-070E-4B8C-B975-5E885251BB38}"/>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4BB0A6D4-8A9A-4D99-ADD3-2D2993E60C2D}"/>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ECAA0B7B-7C6D-44C7-8AA6-0F7E44A0238F}"/>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2E9B3224-995C-488C-8F8D-C6FA642564CD}"/>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3F9A93FA-4416-4E1B-8500-B216285FB2C4}"/>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A8A2EA-9E27-4304-9683-7950519C23BA}"/>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A4ACD06F-340B-43D5-B68D-0A06511C4C49}"/>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0D80621B-3514-4704-A0E5-78D03B0E06DF}"/>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AED2E0B7-C35C-4CAF-8284-1636A9C02567}"/>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E77C690C-AFDC-49A9-89FB-3DD52D603D2E}"/>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8D7447BF-6C4F-4332-9F6C-E742AAC9F556}"/>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F0EF8ED1-02D3-47C7-97F5-50D2519B4149}"/>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279861855"/>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C0B733-D216-4EF8-829B-24D8FE6AE584}"/>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3F3756EB-3CF6-4DED-8D8F-6CE5AA961415}"/>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C7D340-ECE4-4D75-994B-3D6A48B59D45}"/>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D588AF4F-F64A-4482-BE26-C565C119EA0F}"/>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AEF0D114-0F45-430C-ABF4-7ECC00C88721}"/>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722F9584-7949-4D77-90F9-F6CCC478742C}"/>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95713cd26791458b"/>
          </a:graphicData>
        </a:graphic>
      </p:graphicFrame>
      <p:sp>
        <p:nvSpPr>
          <p:cNvPr id="8" name="">
            <a:extLst xmlns:a="http://schemas.openxmlformats.org/drawingml/2006/main">
              <a:ext uri="{FF2B5EF4-FFF2-40B4-BE49-F238E27FC236}">
                <a16:creationId xmlns:a16="http://schemas.microsoft.com/office/drawing/2014/main" id="{4A49018B-0CFB-4D18-BFBB-2CF843EF0CB0}"/>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546801590"/>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1D8E1E6-C003-4245-A71B-A5232C305834}"/>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Recorded footage reaches the map</a:t>
            </a:r>
          </a:p>
        </p:txBody>
      </p:sp>
      <p:sp>
        <p:nvSpPr>
          <p:cNvPr id="2" name="">
            <a:extLst xmlns:a="http://schemas.openxmlformats.org/drawingml/2006/main">
              <a:ext uri="{FF2B5EF4-FFF2-40B4-BE49-F238E27FC236}">
                <a16:creationId xmlns:a16="http://schemas.microsoft.com/office/drawing/2014/main" id="{EC6C67F5-A07B-4C26-BDA3-2ADD8D287306}"/>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777B76-D389-4D6F-BB55-6FFC78A88F2A}"/>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F82088DE-C27F-4551-9932-CE6052D9DC09}"/>
              </a:ext>
            </a:extLst>
          </p:cNvPr>
          <p:cNvSpPr>
            <a:spLocks xmlns:a="http://schemas.openxmlformats.org/drawingml/2006/main" noGrp="1"/>
          </p:cNvSpPr>
          <p:nvPr/>
        </p:nvSpPr>
        <p:spPr>
          <a:xfrm xmlns:a="http://schemas.openxmlformats.org/drawingml/2006/main">
            <a:off x="762000" y="15049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1E03B2EE-1DC0-412A-A624-D016EE28DC0F}"/>
              </a:ext>
            </a:extLst>
          </p:cNvPr>
          <p:cNvSpPr>
            <a:spLocks xmlns:a="http://schemas.openxmlformats.org/drawingml/2006/main" noGrp="1"/>
          </p:cNvSpPr>
          <p:nvPr/>
        </p:nvSpPr>
        <p:spPr>
          <a:xfrm xmlns:a="http://schemas.openxmlformats.org/drawingml/2006/main">
            <a:off x="1400175" y="15049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D8725219-5820-4A77-A6E0-875E911CE1FC}"/>
              </a:ext>
            </a:extLst>
          </p:cNvPr>
          <p:cNvSpPr>
            <a:spLocks xmlns:a="http://schemas.openxmlformats.org/drawingml/2006/main" noGrp="1"/>
          </p:cNvSpPr>
          <p:nvPr/>
        </p:nvSpPr>
        <p:spPr>
          <a:xfrm xmlns:a="http://schemas.openxmlformats.org/drawingml/2006/main">
            <a:off x="1400175" y="18573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Rank risk and the data gap; select a tree pit</a:t>
            </a:r>
          </a:p>
        </p:txBody>
      </p:sp>
      <p:sp>
        <p:nvSpPr>
          <p:cNvPr id="7" name="">
            <a:extLst xmlns:a="http://schemas.openxmlformats.org/drawingml/2006/main">
              <a:ext uri="{FF2B5EF4-FFF2-40B4-BE49-F238E27FC236}">
                <a16:creationId xmlns:a16="http://schemas.microsoft.com/office/drawing/2014/main" id="{A38E83A7-2688-4E4B-8B6B-99BAFA42B2F6}"/>
              </a:ext>
            </a:extLst>
          </p:cNvPr>
          <p:cNvSpPr>
            <a:spLocks xmlns:a="http://schemas.openxmlformats.org/drawingml/2006/main" noGrp="1"/>
          </p:cNvSpPr>
          <p:nvPr/>
        </p:nvSpPr>
        <p:spPr>
          <a:xfrm xmlns:a="http://schemas.openxmlformats.org/drawingml/2006/main">
            <a:off x="762000" y="23812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AFDB1FE9-7DDA-4CA5-87DB-5264CE177844}"/>
              </a:ext>
            </a:extLst>
          </p:cNvPr>
          <p:cNvSpPr>
            <a:spLocks xmlns:a="http://schemas.openxmlformats.org/drawingml/2006/main" noGrp="1"/>
          </p:cNvSpPr>
          <p:nvPr/>
        </p:nvSpPr>
        <p:spPr>
          <a:xfrm xmlns:a="http://schemas.openxmlformats.org/drawingml/2006/main">
            <a:off x="1400175" y="23812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Capture</a:t>
            </a:r>
          </a:p>
        </p:txBody>
      </p:sp>
      <p:sp>
        <p:nvSpPr>
          <p:cNvPr id="9" name="">
            <a:extLst xmlns:a="http://schemas.openxmlformats.org/drawingml/2006/main">
              <a:ext uri="{FF2B5EF4-FFF2-40B4-BE49-F238E27FC236}">
                <a16:creationId xmlns:a16="http://schemas.microsoft.com/office/drawing/2014/main" id="{941D5042-02F4-44D5-875D-B94C0EEC8100}"/>
              </a:ext>
            </a:extLst>
          </p:cNvPr>
          <p:cNvSpPr>
            <a:spLocks xmlns:a="http://schemas.openxmlformats.org/drawingml/2006/main" noGrp="1"/>
          </p:cNvSpPr>
          <p:nvPr/>
        </p:nvSpPr>
        <p:spPr>
          <a:xfrm xmlns:a="http://schemas.openxmlformats.org/drawingml/2006/main">
            <a:off x="1400175" y="27336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Physical owl rig: Pi 5 camera and PIR sensor</a:t>
            </a:r>
          </a:p>
        </p:txBody>
      </p:sp>
      <p:sp>
        <p:nvSpPr>
          <p:cNvPr id="10" name="">
            <a:extLst xmlns:a="http://schemas.openxmlformats.org/drawingml/2006/main">
              <a:ext uri="{FF2B5EF4-FFF2-40B4-BE49-F238E27FC236}">
                <a16:creationId xmlns:a16="http://schemas.microsoft.com/office/drawing/2014/main" id="{0650B8AF-C1D3-4BC4-BCF6-0B9D923656FD}"/>
              </a:ext>
            </a:extLst>
          </p:cNvPr>
          <p:cNvSpPr>
            <a:spLocks xmlns:a="http://schemas.openxmlformats.org/drawingml/2006/main" noGrp="1"/>
          </p:cNvSpPr>
          <p:nvPr/>
        </p:nvSpPr>
        <p:spPr>
          <a:xfrm xmlns:a="http://schemas.openxmlformats.org/drawingml/2006/main">
            <a:off x="762000" y="32575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0BFA2327-8162-485D-9248-BB5E4C5B4E68}"/>
              </a:ext>
            </a:extLst>
          </p:cNvPr>
          <p:cNvSpPr>
            <a:spLocks xmlns:a="http://schemas.openxmlformats.org/drawingml/2006/main" noGrp="1"/>
          </p:cNvSpPr>
          <p:nvPr/>
        </p:nvSpPr>
        <p:spPr>
          <a:xfrm xmlns:a="http://schemas.openxmlformats.org/drawingml/2006/main">
            <a:off x="1400175" y="32575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Detect</a:t>
            </a:r>
          </a:p>
        </p:txBody>
      </p:sp>
      <p:sp>
        <p:nvSpPr>
          <p:cNvPr id="12" name="">
            <a:extLst xmlns:a="http://schemas.openxmlformats.org/drawingml/2006/main">
              <a:ext uri="{FF2B5EF4-FFF2-40B4-BE49-F238E27FC236}">
                <a16:creationId xmlns:a16="http://schemas.microsoft.com/office/drawing/2014/main" id="{853C680B-5B64-461D-B531-816F1FBB2945}"/>
              </a:ext>
            </a:extLst>
          </p:cNvPr>
          <p:cNvSpPr>
            <a:spLocks xmlns:a="http://schemas.openxmlformats.org/drawingml/2006/main" noGrp="1"/>
          </p:cNvSpPr>
          <p:nvPr/>
        </p:nvSpPr>
        <p:spPr>
          <a:xfrm xmlns:a="http://schemas.openxmlformats.org/drawingml/2006/main">
            <a:off x="1400175" y="36099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Room-lit plush model; live positive test pending</a:t>
            </a:r>
          </a:p>
        </p:txBody>
      </p:sp>
      <p:sp>
        <p:nvSpPr>
          <p:cNvPr id="13" name="">
            <a:extLst xmlns:a="http://schemas.openxmlformats.org/drawingml/2006/main">
              <a:ext uri="{FF2B5EF4-FFF2-40B4-BE49-F238E27FC236}">
                <a16:creationId xmlns:a16="http://schemas.microsoft.com/office/drawing/2014/main" id="{FB232535-7594-4820-872F-5CFF97B6BB0A}"/>
              </a:ext>
            </a:extLst>
          </p:cNvPr>
          <p:cNvSpPr>
            <a:spLocks xmlns:a="http://schemas.openxmlformats.org/drawingml/2006/main" noGrp="1"/>
          </p:cNvSpPr>
          <p:nvPr/>
        </p:nvSpPr>
        <p:spPr>
          <a:xfrm xmlns:a="http://schemas.openxmlformats.org/drawingml/2006/main">
            <a:off x="762000" y="41338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EDBCA3B5-5AC2-4C29-BE9F-1B786DD456E3}"/>
              </a:ext>
            </a:extLst>
          </p:cNvPr>
          <p:cNvSpPr>
            <a:spLocks xmlns:a="http://schemas.openxmlformats.org/drawingml/2006/main" noGrp="1"/>
          </p:cNvSpPr>
          <p:nvPr/>
        </p:nvSpPr>
        <p:spPr>
          <a:xfrm xmlns:a="http://schemas.openxmlformats.org/drawingml/2006/main">
            <a:off x="1400175" y="41338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Update the map</a:t>
            </a:r>
          </a:p>
        </p:txBody>
      </p:sp>
      <p:sp>
        <p:nvSpPr>
          <p:cNvPr id="15" name="">
            <a:extLst xmlns:a="http://schemas.openxmlformats.org/drawingml/2006/main">
              <a:ext uri="{FF2B5EF4-FFF2-40B4-BE49-F238E27FC236}">
                <a16:creationId xmlns:a16="http://schemas.microsoft.com/office/drawing/2014/main" id="{C65E4FE4-5E47-49EC-A35F-4AA0DEDB8F85}"/>
              </a:ext>
            </a:extLst>
          </p:cNvPr>
          <p:cNvSpPr>
            <a:spLocks xmlns:a="http://schemas.openxmlformats.org/drawingml/2006/main" noGrp="1"/>
          </p:cNvSpPr>
          <p:nvPr/>
        </p:nvSpPr>
        <p:spPr>
          <a:xfrm xmlns:a="http://schemas.openxmlformats.org/drawingml/2006/main">
            <a:off x="1400175" y="44862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Accepted events update a chosen prior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db1f247d32e4f90"/>
          <a:stretch xmlns:a="http://schemas.openxmlformats.org/drawingml/2006/main"/>
        </p:blipFill>
        <p:spPr>
          <a:xfrm xmlns:a="http://schemas.openxmlformats.org/drawingml/2006/main">
            <a:off x="8999637" y="1428750"/>
            <a:ext cx="1955602" cy="34766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9FCC107-DB7E-4F09-B75C-0383F399DC59}"/>
              </a:ext>
            </a:extLst>
          </p:cNvPr>
          <p:cNvSpPr>
            <a:spLocks xmlns:a="http://schemas.openxmlformats.org/drawingml/2006/main" noGrp="1"/>
          </p:cNvSpPr>
          <p:nvPr/>
        </p:nvSpPr>
        <p:spPr>
          <a:xfrm xmlns:a="http://schemas.openxmlformats.org/drawingml/2006/main">
            <a:off x="8715375" y="4914900"/>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56B"/>
                </a:solidFill>
                <a:latin typeface="Helvetica Neue"/>
                <a:ea typeface="Helvetica Neue"/>
                <a:cs typeface="Helvetica Neue"/>
              </a:defRPr>
            </a:pPr>
            <a:r>
              <a:rPr sz="1275" b="0">
                <a:solidFill>
                  <a:srgbClr val="52656B"/>
                </a:solidFill>
                <a:latin typeface="Helvetica Neue"/>
                <a:ea typeface="Helvetica Neue"/>
                <a:cs typeface="Helvetica Neue"/>
              </a:rPr>
              <a:t>Physical prototype at the hackathon</a:t>
            </a:r>
          </a:p>
        </p:txBody>
      </p:sp>
      <p:sp>
        <p:nvSpPr>
          <p:cNvPr id="18" name="">
            <a:extLst xmlns:a="http://schemas.openxmlformats.org/drawingml/2006/main">
              <a:ext uri="{FF2B5EF4-FFF2-40B4-BE49-F238E27FC236}">
                <a16:creationId xmlns:a16="http://schemas.microsoft.com/office/drawing/2014/main" id="{AB4BBA5B-966F-4F3D-85DB-0C9B49AF2A20}"/>
              </a:ext>
            </a:extLst>
          </p:cNvPr>
          <p:cNvSpPr>
            <a:spLocks xmlns:a="http://schemas.openxmlformats.org/drawingml/2006/main" noGrp="1"/>
          </p:cNvSpPr>
          <p:nvPr/>
        </p:nvSpPr>
        <p:spPr>
          <a:xfrm xmlns:a="http://schemas.openxmlformats.org/drawingml/2006/main">
            <a:off x="762000" y="534352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9A4D1ED-9CD5-4F62-9E14-47955DDB7F0C}"/>
              </a:ext>
            </a:extLst>
          </p:cNvPr>
          <p:cNvSpPr>
            <a:spLocks xmlns:a="http://schemas.openxmlformats.org/drawingml/2006/main" noGrp="1"/>
          </p:cNvSpPr>
          <p:nvPr/>
        </p:nvSpPr>
        <p:spPr>
          <a:xfrm xmlns:a="http://schemas.openxmlformats.org/drawingml/2006/main">
            <a:off x="762000" y="551497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Earlier replay</a:t>
            </a:r>
          </a:p>
        </p:txBody>
      </p:sp>
      <p:sp>
        <p:nvSpPr>
          <p:cNvPr id="20" name="">
            <a:extLst xmlns:a="http://schemas.openxmlformats.org/drawingml/2006/main">
              <a:ext uri="{FF2B5EF4-FFF2-40B4-BE49-F238E27FC236}">
                <a16:creationId xmlns:a16="http://schemas.microsoft.com/office/drawing/2014/main" id="{1B9BB211-AFF7-48BD-9F76-1723D26D3378}"/>
              </a:ext>
            </a:extLst>
          </p:cNvPr>
          <p:cNvSpPr>
            <a:spLocks xmlns:a="http://schemas.openxmlformats.org/drawingml/2006/main" noGrp="1"/>
          </p:cNvSpPr>
          <p:nvPr/>
        </p:nvSpPr>
        <p:spPr>
          <a:xfrm xmlns:a="http://schemas.openxmlformats.org/drawingml/2006/main">
            <a:off x="2667000" y="549592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1 event · score 9.2% → 13.0% · rank 11 → 2</a:t>
            </a:r>
          </a:p>
        </p:txBody>
      </p:sp>
    </p:spTree>
    <p:extLst>
      <p:ext uri="{BB962C8B-B14F-4D97-AF65-F5344CB8AC3E}">
        <p14:creationId xmlns:p14="http://schemas.microsoft.com/office/powerpoint/2010/main" val="1624955297"/>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50A09B-8F6B-4853-B352-F2C34D27D2EA}"/>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2D6D7D7B-DB31-46F8-9284-C6275768AD57}"/>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DA21D8-EF8A-4721-A053-81BC433C52C5}"/>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CAFE71F-6995-4346-B2E7-5DE6DF95409D}"/>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B913F689-364C-4748-ACD6-C8228FA35E69}"/>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camera and PIR at the hackathon</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Saved-frame ONNX inference on Pi</a:t>
            </a:r>
          </a:p>
        </p:txBody>
      </p:sp>
      <p:sp>
        <p:nvSpPr>
          <p:cNvPr id="6" name="">
            <a:extLst xmlns:a="http://schemas.openxmlformats.org/drawingml/2006/main">
              <a:ext uri="{FF2B5EF4-FFF2-40B4-BE49-F238E27FC236}">
                <a16:creationId xmlns:a16="http://schemas.microsoft.com/office/drawing/2014/main" id="{23FC5522-81DB-4A3C-909A-4B931419275C}"/>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3C9C35-E64D-48A7-BBC8-4E5C496ACB4F}"/>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01A59838-EBA2-41B3-95CE-3641347C3C88}"/>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Fresh V5 test did not establish .90 AP50</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Labels and edge misses need work</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Tuned development: .961 weakest clip</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Earlier footage → API → map verified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Room-lit prop demo; no field deployment</a:t>
            </a:r>
          </a:p>
        </p:txBody>
      </p:sp>
      <p:sp>
        <p:nvSpPr>
          <p:cNvPr id="9" name="">
            <a:extLst xmlns:a="http://schemas.openxmlformats.org/drawingml/2006/main">
              <a:ext uri="{FF2B5EF4-FFF2-40B4-BE49-F238E27FC236}">
                <a16:creationId xmlns:a16="http://schemas.microsoft.com/office/drawing/2014/main" id="{918B309C-57A3-4F51-AC2C-E421F873BC34}"/>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360044A-3B9B-4E04-A9FA-CCF238B6C567}"/>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a:t>
            </a:r>
          </a:p>
        </p:txBody>
      </p:sp>
      <p:sp>
        <p:nvSpPr>
          <p:cNvPr id="11" name="">
            <a:extLst xmlns:a="http://schemas.openxmlformats.org/drawingml/2006/main">
              <a:ext uri="{FF2B5EF4-FFF2-40B4-BE49-F238E27FC236}">
                <a16:creationId xmlns:a16="http://schemas.microsoft.com/office/drawing/2014/main" id="{4D4177C7-DCC1-4B83-B316-A005E8397D77}"/>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02635"/>
                </a:solidFill>
                <a:latin typeface="Helvetica Neue"/>
                <a:ea typeface="Helvetica Neue"/>
                <a:cs typeface="Helvetica Neue"/>
              </a:defRPr>
            </a:pPr>
            <a:r>
              <a:rPr sz="2175" b="0">
                <a:solidFill>
                  <a:srgbClr val="102635"/>
                </a:solidFill>
                <a:latin typeface="Helvetica Neue"/>
                <a:ea typeface="Helvetica Neue"/>
                <a:cs typeface="Helvetica Neue"/>
              </a:rPr>
              <a:t>Improve the detector and repeat a frozen test before a pilot.</a:t>
            </a:r>
          </a:p>
        </p:txBody>
      </p:sp>
    </p:spTree>
    <p:extLst>
      <p:ext uri="{BB962C8B-B14F-4D97-AF65-F5344CB8AC3E}">
        <p14:creationId xmlns:p14="http://schemas.microsoft.com/office/powerpoint/2010/main" val="742842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2026-09-27T04:39:48.9330000Z</dcterms:created>
  <dcterms:modified xsi:type="dcterms:W3CDTF">2026-09-27T04:39:48.9330000Z</dcterms:modified>
</coreProperties>
</file>