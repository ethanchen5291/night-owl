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slides/charts/chart1.xml" ContentType="application/vnd.openxmlformats-officedocument.drawingml.chart+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096508ee546748a6" /><Relationship Type="http://schemas.openxmlformats.org/officeDocument/2006/relationships/extended-properties" Target="/docProps/app.xml" Id="R1b73609e30cc49c0" /><Relationship Type="http://schemas.openxmlformats.org/officeDocument/2006/relationships/officeDocument" Target="/ppt/presentation.xml" Id="R5278b2b47f594543" /></Relationships>
</file>

<file path=ppt/presentation.xml><?xml version="1.0" encoding="utf-8"?>
<p:presentation xmlns:p="http://schemas.openxmlformats.org/presentationml/2006/main">
  <p:sldMasterIdLst>
    <p:sldMasterId xmlns:r="http://schemas.openxmlformats.org/officeDocument/2006/relationships" id="2147483648" r:id="Ra68f72ec20ba4732"/>
  </p:sldMasterIdLst>
  <p:notesMasterIdLst>
    <p:notesMasterId xmlns:r="http://schemas.openxmlformats.org/officeDocument/2006/relationships" r:id="R7f019b42d5c943fd"/>
  </p:notesMasterIdLst>
  <p:sldIdLst>
    <p:sldId xmlns:r="http://schemas.openxmlformats.org/officeDocument/2006/relationships" id="256" r:id="R43c1621022b24b72"/>
    <p:sldId xmlns:r="http://schemas.openxmlformats.org/officeDocument/2006/relationships" id="257" r:id="Rbbb889b293ba4251"/>
    <p:sldId xmlns:r="http://schemas.openxmlformats.org/officeDocument/2006/relationships" id="258" r:id="R22cbdc82256b4d64"/>
    <p:sldId xmlns:r="http://schemas.openxmlformats.org/officeDocument/2006/relationships" id="259" r:id="R833719c415f849d0"/>
    <p:sldId xmlns:r="http://schemas.openxmlformats.org/officeDocument/2006/relationships" id="260" r:id="R970b9e931fdb413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c63f7f22a69477e" /><Relationship Type="http://schemas.openxmlformats.org/officeDocument/2006/relationships/slideMaster" Target="/ppt/slideMasters/slideMaster1.xml" Id="Ra68f72ec20ba4732" /><Relationship Type="http://schemas.openxmlformats.org/officeDocument/2006/relationships/notesMaster" Target="/ppt/notesMasters/notesMaster1.xml" Id="R7f019b42d5c943fd" /><Relationship Type="http://schemas.openxmlformats.org/officeDocument/2006/relationships/presProps" Target="/ppt/presProps.xml" Id="R075d0afebdfa4781" /><Relationship Type="http://schemas.openxmlformats.org/officeDocument/2006/relationships/tableStyles" Target="/ppt/tableStyles.xml" Id="Rdd5af685e93041fd" /><Relationship Type="http://schemas.openxmlformats.org/officeDocument/2006/relationships/slide" Target="/ppt/slides/slide1.xml" Id="R43c1621022b24b72" /><Relationship Type="http://schemas.openxmlformats.org/officeDocument/2006/relationships/slide" Target="/ppt/slides/slide2.xml" Id="Rbbb889b293ba4251" /><Relationship Type="http://schemas.openxmlformats.org/officeDocument/2006/relationships/slide" Target="/ppt/slides/slide3.xml" Id="R22cbdc82256b4d64" /><Relationship Type="http://schemas.openxmlformats.org/officeDocument/2006/relationships/slide" Target="/ppt/slides/slide4.xml" Id="R833719c415f849d0" /><Relationship Type="http://schemas.openxmlformats.org/officeDocument/2006/relationships/slide" Target="/ppt/slides/slide5.xml" Id="R970b9e931fdb413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fc6c99c934f4ac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e95352f7ad44daf" /><Relationship Type="http://schemas.openxmlformats.org/officeDocument/2006/relationships/notesMaster" Target="/ppt/notesMasters/notesMaster1.xml" Id="R76325f9623434c89" /></Relationships>
</file>

<file path=ppt/notesSlides/_rels/notesSlide2.xml.rels>&#65279;<?xml version="1.0" encoding="utf-8"?><Relationships xmlns="http://schemas.openxmlformats.org/package/2006/relationships"><Relationship Type="http://schemas.openxmlformats.org/officeDocument/2006/relationships/slide" Target="/ppt/slides/slide2.xml" Id="R06d605eeef0e450c" /><Relationship Type="http://schemas.openxmlformats.org/officeDocument/2006/relationships/notesMaster" Target="/ppt/notesMasters/notesMaster1.xml" Id="Re627b0137b484903" /></Relationships>
</file>

<file path=ppt/notesSlides/_rels/notesSlide3.xml.rels>&#65279;<?xml version="1.0" encoding="utf-8"?><Relationships xmlns="http://schemas.openxmlformats.org/package/2006/relationships"><Relationship Type="http://schemas.openxmlformats.org/officeDocument/2006/relationships/slide" Target="/ppt/slides/slide3.xml" Id="R126c4c90b097403e" /><Relationship Type="http://schemas.openxmlformats.org/officeDocument/2006/relationships/notesMaster" Target="/ppt/notesMasters/notesMaster1.xml" Id="R64cbf491f07b4214" /></Relationships>
</file>

<file path=ppt/notesSlides/_rels/notesSlide4.xml.rels>&#65279;<?xml version="1.0" encoding="utf-8"?><Relationships xmlns="http://schemas.openxmlformats.org/package/2006/relationships"><Relationship Type="http://schemas.openxmlformats.org/officeDocument/2006/relationships/slide" Target="/ppt/slides/slide4.xml" Id="Ree6e00cb0b7b4a52" /><Relationship Type="http://schemas.openxmlformats.org/officeDocument/2006/relationships/notesMaster" Target="/ppt/notesMasters/notesMaster1.xml" Id="Rf1c3b2a6e4ec44f1" /></Relationships>
</file>

<file path=ppt/notesSlides/_rels/notesSlide5.xml.rels>&#65279;<?xml version="1.0" encoding="utf-8"?><Relationships xmlns="http://schemas.openxmlformats.org/package/2006/relationships"><Relationship Type="http://schemas.openxmlformats.org/officeDocument/2006/relationships/slide" Target="/ppt/slides/slide5.xml" Id="Rb1790797bf9d4b32" /><Relationship Type="http://schemas.openxmlformats.org/officeDocument/2006/relationships/notesMaster" Target="/ppt/notesMasters/notesMaster1.xml" Id="Rcc216117dfb3468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New York records rat complaints, but a call depends on someone choosing to report. Barn Owl asks where active rat signs might be found even when 311 is quiet. We use the city's inspections of swept blocks as an independent outcome for training and backtesting. That inspection sample still has limits, which I will show on the evidence slide.</a:t>
            </a:r>
          </a:p>
          <a:p xmlns:a="http://schemas.openxmlformats.org/drawingml/2006/main">
            <a:r>
              <a:t/>
            </a:r>
          </a:p>
          <a:p xmlns:a="http://schemas.openxmlformats.org/drawingml/2006/main">
            <a:r>
              <a:t>Source: model/README.md, model/05_backtest.py; plan/master-plan.md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Barn Owl scores each H3 cell and month two ways. Model A estimates complaints. Model B estimates the share of swept lots where an inspector would find active signs. Model B uses building and environmental features and omits complaint counts. A positive Silence Score means modeled risk ranks above reporting. In the September 2026 export, East Harlem North has zero complaints in the prior 12 months, 8.2% modeled risk, and a +80 gap, rank 10 of 5170. The West Village cell has 31 complaints, 4.3% modeled risk, and a -15 gap. These are two examples of model output, not measured prevalence or a causal income result. On the live map, switch from complaints to risk, then silence.</a:t>
            </a:r>
          </a:p>
          <a:p xmlns:a="http://schemas.openxmlformats.org/drawingml/2006/main">
            <a:r>
              <a:t/>
            </a:r>
          </a:p>
          <a:p xmlns:a="http://schemas.openxmlformats.org/drawingml/2006/main">
            <a:r>
              <a:t>Source: model/out/cells.json; model/README.md §Key decisions; web/src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is the exported rolling backtest, not a simulation. Each month the model trains only on earlier months, then each method picks its top 50 among cells that inspectors actually swept that month. We count the share of swept lots in those picked cells with active rat signs and average the monthly shares. Model B risk averages 19.5%, compared with 15.2% for a ranking by prior 311 calls, a 4.3 point gap. The result is conditional on the swept sample; it does not tell us how many rats live citywide or prove a causal gain from deploying sensors. The quiet-block comparison is separate and is not the bar labeled Model B.</a:t>
            </a:r>
          </a:p>
          <a:p xmlns:a="http://schemas.openxmlformats.org/drawingml/2006/main">
            <a:r>
              <a:t/>
            </a:r>
          </a:p>
          <a:p xmlns:a="http://schemas.openxmlformats.org/drawingml/2006/main">
            <a:r>
              <a:t>Source: model/out/backtest.json and model/05_backtest.py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planner has 20 candidate tree sites in its current export. At the table, the Pi 5 camera points down at the prop. PIR only wakes capture; the detector must confirm the object. An accepted rat event posts a crop and metadata to the API. The API updates a chosen Beta prior for that cell, so the map score and candidate ranking can move. This is an event-driven re-rank, not live retraining of Model B. If the detector or network fails, say so and use the documented canned event only as a labeled fallback. Hold for the actual feed and map response before speaking the result.</a:t>
            </a:r>
          </a:p>
          <a:p xmlns:a="http://schemas.openxmlformats.org/drawingml/2006/main">
            <a:r>
              <a:t/>
            </a:r>
          </a:p>
          <a:p xmlns:a="http://schemas.openxmlformats.org/drawingml/2006/main">
            <a:r>
              <a:t>Source: model/out/plan.json; node/DEBRIEF-utsav.md; api/posterior.py; plan/master-plan.md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Here is the honest state. The data exports, model scores, and sweep backtest exist. The team has verified the Pi 5 camera, PIR, and infrared capture, and new IR rig footage exists. A toy-rat detector is being trained and its held-out clip and event tests are pending. It is a prop demo, not a real-rat detector. The event posterior uses a chosen prior; an event updates the served score and can change candidate order, but it does not retrain the city model. We have no field deployment and no rat population estimate. The next useful test would be a supervised 50-node pilot, evaluated against later proactive sweeps and false events.</a:t>
            </a:r>
          </a:p>
          <a:p xmlns:a="http://schemas.openxmlformats.org/drawingml/2006/main">
            <a:r>
              <a:t/>
            </a:r>
          </a:p>
          <a:p xmlns:a="http://schemas.openxmlformats.org/drawingml/2006/main">
            <a:r>
              <a:t>Source: model/out/backtest.json; model/out/metrics.json; node/DEBRIEF-utsav.md; api/posterior.py; plan/master-plan.md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89ff0d7c2e6433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12bf31789114414e" /><Relationship Type="http://schemas.openxmlformats.org/officeDocument/2006/relationships/slideLayout" Target="/ppt/slideLayouts/slideLayout1.xml" Id="R9da2b0f5ce944e0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da2b0f5ce944e0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5c5a78b94ba4a26" /><Relationship Type="http://schemas.openxmlformats.org/officeDocument/2006/relationships/notesSlide" Target="/ppt/notesSlides/notesSlide1.xml" Id="Re16d3a418bbc4cb3"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6f5d3243066489f" /><Relationship Type="http://schemas.openxmlformats.org/officeDocument/2006/relationships/notesSlide" Target="/ppt/notesSlides/notesSlide2.xml" Id="Rc196ef4dedf749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19b5f189c87b4407" /><Relationship Type="http://schemas.openxmlformats.org/officeDocument/2006/relationships/chart" Target="/ppt/slides/charts/chart1.xml" Id="R5e6912724c254ca1" /><Relationship Type="http://schemas.openxmlformats.org/officeDocument/2006/relationships/notesSlide" Target="/ppt/notesSlides/notesSlide3.xml" Id="R4780bf9acb2d4635"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11fa426c40d41bd" /><Relationship Type="http://schemas.openxmlformats.org/officeDocument/2006/relationships/notesSlide" Target="/ppt/notesSlides/notesSlide4.xml" Id="Rfcbae3c6702544d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aec468a266944090" /><Relationship Type="http://schemas.openxmlformats.org/officeDocument/2006/relationships/notesSlide" Target="/ppt/notesSlides/notesSlide5.xml" Id="R3e5a40f24b6e4f79"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clustered"/>
        <c:varyColors val="0"/>
        <c:ser>
          <c:idx val="0"/>
          <c:order val="0"/>
          <c:tx>
            <c:v>Active-sign share</c:v>
          </c:tx>
          <c:spPr>
            <a:solidFill xmlns:a="http://schemas.openxmlformats.org/drawingml/2006/main">
              <a:srgbClr val="087E83"/>
            </a:solidFill>
          </c:spPr>
          <c:dPt>
            <c:idx val="1"/>
            <c:invertIfNegative val="0"/>
            <c:spPr>
              <a:solidFill xmlns:a="http://schemas.openxmlformats.org/drawingml/2006/main">
                <a:srgbClr val="76979B"/>
              </a:solidFill>
            </c:spPr>
          </c:dPt>
          <c:dPt>
            <c:idx val="2"/>
            <c:invertIfNegative val="0"/>
            <c:spPr>
              <a:solidFill xmlns:a="http://schemas.openxmlformats.org/drawingml/2006/main">
                <a:srgbClr val="D96C50"/>
              </a:solidFill>
            </c:spPr>
          </c:dPt>
          <c:dPt>
            <c:idx val="3"/>
            <c:invertIfNegative val="0"/>
            <c:spPr>
              <a:solidFill xmlns:a="http://schemas.openxmlformats.org/drawingml/2006/main">
                <a:srgbClr val="B9C8C5"/>
              </a:solidFill>
            </c:spPr>
          </c:dPt>
          <c:cat>
            <c:strRef>
              <c:f>'Chart Data'!$A$2:$A$5</c:f>
              <c:strCache>
                <c:ptCount val="4"/>
                <c:pt idx="0">
                  <c:v>Model B risk</c:v>
                </c:pt>
                <c:pt idx="1">
                  <c:v>Prior rat findings</c:v>
                </c:pt>
                <c:pt idx="2">
                  <c:v>311 complaints</c:v>
                </c:pt>
                <c:pt idx="3">
                  <c:v>All swept cells</c:v>
                </c:pt>
              </c:strCache>
            </c:strRef>
          </c:cat>
          <c:val>
            <c:numRef>
              <c:f>'Chart Data'!$B$2:$B$5</c:f>
              <c:numCache>
                <c:formatCode>0.0%</c:formatCode>
                <c:ptCount val="4"/>
                <c:pt idx="0">
                  <c:v>0.1948</c:v>
                </c:pt>
                <c:pt idx="1">
                  <c:v>0.1707</c:v>
                </c:pt>
                <c:pt idx="2">
                  <c:v>0.1522</c:v>
                </c:pt>
                <c:pt idx="3">
                  <c:v>0.1154</c:v>
                </c:pt>
              </c:numCache>
            </c:numRef>
          </c:val>
        </c:ser>
        <c:dLbls>
          <c:txPr>
            <a:bodyPr xmlns:a="http://schemas.openxmlformats.org/drawingml/2006/main" anchorCtr="1"/>
            <a:lstStyle xmlns:a="http://schemas.openxmlformats.org/drawingml/2006/main"/>
            <a:p xmlns:a="http://schemas.openxmlformats.org/drawingml/2006/main">
              <a:pPr>
                <a:defRPr sz="1275" b="1">
                  <a:solidFill>
                    <a:srgbClr val="18313D"/>
                  </a:solidFill>
                  <a:latin typeface="Helvetica Neue"/>
                  <a:ea typeface="Helvetica Neue"/>
                  <a:cs typeface="Helvetica Neue"/>
                </a:defRPr>
              </a:pPr>
            </a:p>
          </c:txPr>
          <c:dLblPos val="outEnd"/>
          <c:showLegendKey val="0"/>
          <c:showVal val="1"/>
          <c:showCatName val="0"/>
          <c:showSerName val="0"/>
          <c:showPercent val="0"/>
          <c:showBubbleSize val="0"/>
          <c:showLeaderLines val="0"/>
        </c:dLbls>
        <c:gapWidth val="80"/>
        <c:axId val="48650112"/>
        <c:axId val="48672768"/>
      </c:barChart>
      <c:catAx>
        <c:axId val="48650112"/>
        <c:scaling>
          <c:orientation val="minMax"/>
        </c:scaling>
        <c:delete val="0"/>
        <c:axPos val="l"/>
        <c:majorGridlines>
          <c:spPr>
            <a:ln xmlns:a="http://schemas.openxmlformats.org/drawingml/2006/main" w="9525">
              <a:solidFill>
                <a:srgbClr val="E6ECE8"/>
              </a:solidFill>
              <a:prstDash val="solid"/>
            </a:ln>
          </c:spPr>
        </c:majorGridlines>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125">
                <a:solidFill>
                  <a:srgbClr val="52656B"/>
                </a:solidFill>
                <a:latin typeface="Helvetica Neue"/>
                <a:ea typeface="Helvetica Neue"/>
                <a:cs typeface="Helvetica Neue"/>
              </a:defRPr>
            </a:pPr>
          </a:p>
        </c:txPr>
        <c:crossAx val="48672768"/>
      </c:catAx>
      <c:valAx>
        <c:axId val="48672768"/>
        <c:scaling>
          <c:orientation val="minMax"/>
        </c:scaling>
        <c:delete val="0"/>
        <c:axPos val="b"/>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00">
                <a:solidFill>
                  <a:srgbClr val="18313D"/>
                </a:solidFill>
                <a:latin typeface="Helvetica Neue"/>
                <a:ea typeface="Helvetica Neue"/>
                <a:cs typeface="Helvetica Neue"/>
              </a:defRPr>
            </a:pPr>
          </a:p>
        </c:txPr>
        <c:crossAx val="48650112"/>
        <c:crossBetween val="between"/>
      </c:valAx>
      <c:spPr>
        <a:noFill xmlns:a="http://schemas.openxmlformats.org/drawingml/2006/main"/>
        <a:ln xmlns:a="http://schemas.openxmlformats.org/drawingml/2006/main" w="0">
          <a:noFill/>
        </a:ln>
      </c:spPr>
    </c:plotArea>
    <c:plotVisOnly val="1"/>
  </c:chart>
  <c:spPr>
    <a:noFill xmlns:a="http://schemas.openxmlformats.org/drawingml/2006/main"/>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102635"/>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11E3D6C-7C15-4ADC-8456-84C6EE73FB21}"/>
              </a:ext>
            </a:extLst>
          </p:cNvPr>
          <p:cNvSpPr>
            <a:spLocks xmlns:a="http://schemas.openxmlformats.org/drawingml/2006/main" noGrp="1"/>
          </p:cNvSpPr>
          <p:nvPr/>
        </p:nvSpPr>
        <p:spPr>
          <a:xfrm xmlns:a="http://schemas.openxmlformats.org/drawingml/2006/main">
            <a:off x="666750" y="838200"/>
            <a:ext cx="10572750" cy="904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000" b="1">
                <a:solidFill>
                  <a:srgbClr val="FFFFFF"/>
                </a:solidFill>
                <a:latin typeface="Helvetica Neue"/>
                <a:ea typeface="Helvetica Neue"/>
                <a:cs typeface="Helvetica Neue"/>
              </a:defRPr>
            </a:pPr>
            <a:r>
              <a:rPr sz="6000" b="1">
                <a:solidFill>
                  <a:srgbClr val="FFFFFF"/>
                </a:solidFill>
                <a:latin typeface="Helvetica Neue"/>
                <a:ea typeface="Helvetica Neue"/>
                <a:cs typeface="Helvetica Neue"/>
              </a:rPr>
              <a:t>BARN OWL</a:t>
            </a:r>
          </a:p>
        </p:txBody>
      </p:sp>
      <p:sp>
        <p:nvSpPr>
          <p:cNvPr id="2" name="">
            <a:extLst xmlns:a="http://schemas.openxmlformats.org/drawingml/2006/main">
              <a:ext uri="{FF2B5EF4-FFF2-40B4-BE49-F238E27FC236}">
                <a16:creationId xmlns:a16="http://schemas.microsoft.com/office/drawing/2014/main" id="{5A7987DA-2F48-49BE-902B-79170F0271C3}"/>
              </a:ext>
            </a:extLst>
          </p:cNvPr>
          <p:cNvSpPr>
            <a:spLocks xmlns:a="http://schemas.openxmlformats.org/drawingml/2006/main" noGrp="1"/>
          </p:cNvSpPr>
          <p:nvPr/>
        </p:nvSpPr>
        <p:spPr>
          <a:xfrm xmlns:a="http://schemas.openxmlformats.org/drawingml/2006/main">
            <a:off x="685800" y="1952625"/>
            <a:ext cx="10287000" cy="695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225" b="0">
                <a:solidFill>
                  <a:srgbClr val="AEE5D2"/>
                </a:solidFill>
                <a:latin typeface="Helvetica Neue"/>
                <a:ea typeface="Helvetica Neue"/>
                <a:cs typeface="Helvetica Neue"/>
              </a:defRPr>
            </a:pPr>
            <a:r>
              <a:rPr sz="3225" b="0">
                <a:solidFill>
                  <a:srgbClr val="AEE5D2"/>
                </a:solidFill>
                <a:latin typeface="Helvetica Neue"/>
                <a:ea typeface="Helvetica Neue"/>
                <a:cs typeface="Helvetica Neue"/>
              </a:rPr>
              <a:t>Find rat risk where 311 is quiet</a:t>
            </a:r>
          </a:p>
        </p:txBody>
      </p:sp>
      <p:sp>
        <p:nvSpPr>
          <p:cNvPr id="3" name="">
            <a:extLst xmlns:a="http://schemas.openxmlformats.org/drawingml/2006/main">
              <a:ext uri="{FF2B5EF4-FFF2-40B4-BE49-F238E27FC236}">
                <a16:creationId xmlns:a16="http://schemas.microsoft.com/office/drawing/2014/main" id="{9C755AAD-1478-42E2-AFCB-CC41ABD79DAE}"/>
              </a:ext>
            </a:extLst>
          </p:cNvPr>
          <p:cNvSpPr>
            <a:spLocks xmlns:a="http://schemas.openxmlformats.org/drawingml/2006/main" noGrp="1"/>
          </p:cNvSpPr>
          <p:nvPr/>
        </p:nvSpPr>
        <p:spPr>
          <a:xfrm xmlns:a="http://schemas.openxmlformats.org/drawingml/2006/main">
            <a:off x="685800" y="3133725"/>
            <a:ext cx="10382250" cy="38100"/>
          </a:xfrm>
          <a:prstGeom xmlns:a="http://schemas.openxmlformats.org/drawingml/2006/main" prst="rect">
            <a:avLst/>
          </a:prstGeom>
          <a:solidFill xmlns:a="http://schemas.openxmlformats.org/drawingml/2006/main">
            <a:srgbClr val="087E83"/>
          </a:solidFill>
          <a:ln xmlns:a="http://schemas.openxmlformats.org/drawingml/2006/main" w="0">
            <a:noFill/>
          </a:ln>
        </p:spPr>
      </p:sp>
      <p:sp>
        <p:nvSpPr>
          <p:cNvPr id="4" name="">
            <a:extLst xmlns:a="http://schemas.openxmlformats.org/drawingml/2006/main">
              <a:ext uri="{FF2B5EF4-FFF2-40B4-BE49-F238E27FC236}">
                <a16:creationId xmlns:a16="http://schemas.microsoft.com/office/drawing/2014/main" id="{A1336B0B-44BC-4897-9E1E-B2326A647351}"/>
              </a:ext>
            </a:extLst>
          </p:cNvPr>
          <p:cNvSpPr>
            <a:spLocks xmlns:a="http://schemas.openxmlformats.org/drawingml/2006/main" noGrp="1"/>
          </p:cNvSpPr>
          <p:nvPr/>
        </p:nvSpPr>
        <p:spPr>
          <a:xfrm xmlns:a="http://schemas.openxmlformats.org/drawingml/2006/main">
            <a:off x="685800" y="3524250"/>
            <a:ext cx="100012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A 311 complaint is a report.</a:t>
            </a:r>
          </a:p>
          <a:p xmlns:a="http://schemas.openxmlformats.org/drawingml/2006/main">
            <a:pPr algn="l">
              <a:defRPr sz="3375" b="1">
                <a:solidFill>
                  <a:srgbClr val="FFFFFF"/>
                </a:solidFill>
                <a:latin typeface="Helvetica Neue"/>
                <a:ea typeface="Helvetica Neue"/>
                <a:cs typeface="Helvetica Neue"/>
              </a:defRPr>
            </a:pPr>
            <a:r>
              <a:rPr sz="3375" b="1">
                <a:solidFill>
                  <a:srgbClr val="FFFFFF"/>
                </a:solidFill>
                <a:latin typeface="Helvetica Neue"/>
                <a:ea typeface="Helvetica Neue"/>
                <a:cs typeface="Helvetica Neue"/>
              </a:rPr>
              <a:t>It is not a rat count.</a:t>
            </a:r>
          </a:p>
        </p:txBody>
      </p:sp>
      <p:sp>
        <p:nvSpPr>
          <p:cNvPr id="5" name="">
            <a:extLst xmlns:a="http://schemas.openxmlformats.org/drawingml/2006/main">
              <a:ext uri="{FF2B5EF4-FFF2-40B4-BE49-F238E27FC236}">
                <a16:creationId xmlns:a16="http://schemas.microsoft.com/office/drawing/2014/main" id="{6DA270BB-A776-43C9-AB0E-714A21378234}"/>
              </a:ext>
            </a:extLst>
          </p:cNvPr>
          <p:cNvSpPr>
            <a:spLocks xmlns:a="http://schemas.openxmlformats.org/drawingml/2006/main" noGrp="1"/>
          </p:cNvSpPr>
          <p:nvPr/>
        </p:nvSpPr>
        <p:spPr>
          <a:xfrm xmlns:a="http://schemas.openxmlformats.org/drawingml/2006/main">
            <a:off x="685800" y="5467350"/>
            <a:ext cx="1028700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AEE5D2"/>
                </a:solidFill>
                <a:latin typeface="Helvetica Neue"/>
                <a:ea typeface="Helvetica Neue"/>
                <a:cs typeface="Helvetica Neue"/>
              </a:defRPr>
            </a:pPr>
            <a:r>
              <a:rPr sz="2025" b="0">
                <a:solidFill>
                  <a:srgbClr val="AEE5D2"/>
                </a:solidFill>
                <a:latin typeface="Helvetica Neue"/>
                <a:ea typeface="Helvetica Neue"/>
                <a:cs typeface="Helvetica Neue"/>
              </a:rPr>
              <a:t>NYC inspections give us another signal: active rat signs found on swept blocks.</a:t>
            </a:r>
          </a:p>
        </p:txBody>
      </p:sp>
    </p:spTree>
    <p:extLst>
      <p:ext uri="{BB962C8B-B14F-4D97-AF65-F5344CB8AC3E}">
        <p14:creationId xmlns:p14="http://schemas.microsoft.com/office/powerpoint/2010/main" val="264560979"/>
      </p:ext>
    </p:extLst>
  </p:cSld>
</p:sld>
</file>

<file path=ppt/slides/slide2.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A22B516-F5FD-4662-AEE7-C5C972412B2C}"/>
              </a:ext>
            </a:extLst>
          </p:cNvPr>
          <p:cNvSpPr>
            <a:spLocks xmlns:a="http://schemas.openxmlformats.org/drawingml/2006/main" noGrp="1"/>
          </p:cNvSpPr>
          <p:nvPr/>
        </p:nvSpPr>
        <p:spPr>
          <a:xfrm xmlns:a="http://schemas.openxmlformats.org/drawingml/2006/main">
            <a:off x="628650" y="400050"/>
            <a:ext cx="10934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02635"/>
                </a:solidFill>
                <a:latin typeface="Helvetica Neue"/>
                <a:ea typeface="Helvetica Neue"/>
                <a:cs typeface="Helvetica Neue"/>
              </a:defRPr>
            </a:pPr>
            <a:r>
              <a:rPr sz="3150" b="1">
                <a:solidFill>
                  <a:srgbClr val="102635"/>
                </a:solidFill>
                <a:latin typeface="Helvetica Neue"/>
                <a:ea typeface="Helvetica Neue"/>
                <a:cs typeface="Helvetica Neue"/>
              </a:rPr>
              <a:t>Two signals, one map</a:t>
            </a:r>
          </a:p>
        </p:txBody>
      </p:sp>
      <p:sp>
        <p:nvSpPr>
          <p:cNvPr id="2" name="">
            <a:extLst xmlns:a="http://schemas.openxmlformats.org/drawingml/2006/main">
              <a:ext uri="{FF2B5EF4-FFF2-40B4-BE49-F238E27FC236}">
                <a16:creationId xmlns:a16="http://schemas.microsoft.com/office/drawing/2014/main" id="{D79D8D73-DD28-4B56-A1BF-54C06404A827}"/>
              </a:ext>
            </a:extLst>
          </p:cNvPr>
          <p:cNvSpPr>
            <a:spLocks xmlns:a="http://schemas.openxmlformats.org/drawingml/2006/main" noGrp="1"/>
          </p:cNvSpPr>
          <p:nvPr/>
        </p:nvSpPr>
        <p:spPr>
          <a:xfrm xmlns:a="http://schemas.openxmlformats.org/drawingml/2006/main">
            <a:off x="628650" y="1171575"/>
            <a:ext cx="109347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B32C833D-9288-4F4F-BD67-CA415CEF6793}"/>
              </a:ext>
            </a:extLst>
          </p:cNvPr>
          <p:cNvSpPr>
            <a:spLocks xmlns:a="http://schemas.openxmlformats.org/drawingml/2006/main" noGrp="1"/>
          </p:cNvSpPr>
          <p:nvPr/>
        </p:nvSpPr>
        <p:spPr>
          <a:xfrm xmlns:a="http://schemas.openxmlformats.org/drawingml/2006/main">
            <a:off x="11096625" y="62865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02</a:t>
            </a:r>
          </a:p>
        </p:txBody>
      </p:sp>
      <p:sp>
        <p:nvSpPr>
          <p:cNvPr id="4" name="">
            <a:extLst xmlns:a="http://schemas.openxmlformats.org/drawingml/2006/main">
              <a:ext uri="{FF2B5EF4-FFF2-40B4-BE49-F238E27FC236}">
                <a16:creationId xmlns:a16="http://schemas.microsoft.com/office/drawing/2014/main" id="{4C4EBFE8-FC0A-459A-933C-8874AC5CCA6E}"/>
              </a:ext>
            </a:extLst>
          </p:cNvPr>
          <p:cNvSpPr>
            <a:spLocks xmlns:a="http://schemas.openxmlformats.org/drawingml/2006/main" noGrp="1"/>
          </p:cNvSpPr>
          <p:nvPr/>
        </p:nvSpPr>
        <p:spPr>
          <a:xfrm xmlns:a="http://schemas.openxmlformats.org/drawingml/2006/main">
            <a:off x="666750" y="1666875"/>
            <a:ext cx="85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D96C50"/>
                </a:solidFill>
                <a:latin typeface="Helvetica Neue"/>
                <a:ea typeface="Helvetica Neue"/>
                <a:cs typeface="Helvetica Neue"/>
              </a:defRPr>
            </a:pPr>
            <a:r>
              <a:rPr sz="4575" b="1">
                <a:solidFill>
                  <a:srgbClr val="D96C50"/>
                </a:solidFill>
                <a:latin typeface="Helvetica Neue"/>
                <a:ea typeface="Helvetica Neue"/>
                <a:cs typeface="Helvetica Neue"/>
              </a:rPr>
              <a:t>A</a:t>
            </a:r>
          </a:p>
        </p:txBody>
      </p:sp>
      <p:sp>
        <p:nvSpPr>
          <p:cNvPr id="5" name="">
            <a:extLst xmlns:a="http://schemas.openxmlformats.org/drawingml/2006/main">
              <a:ext uri="{FF2B5EF4-FFF2-40B4-BE49-F238E27FC236}">
                <a16:creationId xmlns:a16="http://schemas.microsoft.com/office/drawing/2014/main" id="{0461D1F6-5FE3-4618-8AF0-7ABE9BCA54A7}"/>
              </a:ext>
            </a:extLst>
          </p:cNvPr>
          <p:cNvSpPr>
            <a:spLocks xmlns:a="http://schemas.openxmlformats.org/drawingml/2006/main" noGrp="1"/>
          </p:cNvSpPr>
          <p:nvPr/>
        </p:nvSpPr>
        <p:spPr>
          <a:xfrm xmlns:a="http://schemas.openxmlformats.org/drawingml/2006/main">
            <a:off x="1600200" y="1619250"/>
            <a:ext cx="3762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Complaint model</a:t>
            </a:r>
          </a:p>
        </p:txBody>
      </p:sp>
      <p:sp>
        <p:nvSpPr>
          <p:cNvPr id="6" name="">
            <a:extLst xmlns:a="http://schemas.openxmlformats.org/drawingml/2006/main">
              <a:ext uri="{FF2B5EF4-FFF2-40B4-BE49-F238E27FC236}">
                <a16:creationId xmlns:a16="http://schemas.microsoft.com/office/drawing/2014/main" id="{8B258817-F7C8-4C0D-9141-B7F762015B9D}"/>
              </a:ext>
            </a:extLst>
          </p:cNvPr>
          <p:cNvSpPr>
            <a:spLocks xmlns:a="http://schemas.openxmlformats.org/drawingml/2006/main" noGrp="1"/>
          </p:cNvSpPr>
          <p:nvPr/>
        </p:nvSpPr>
        <p:spPr>
          <a:xfrm xmlns:a="http://schemas.openxmlformats.org/drawingml/2006/main">
            <a:off x="1600200" y="2114550"/>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Ranks expected 311 reports</a:t>
            </a:r>
          </a:p>
        </p:txBody>
      </p:sp>
      <p:sp>
        <p:nvSpPr>
          <p:cNvPr id="7" name="">
            <a:extLst xmlns:a="http://schemas.openxmlformats.org/drawingml/2006/main">
              <a:ext uri="{FF2B5EF4-FFF2-40B4-BE49-F238E27FC236}">
                <a16:creationId xmlns:a16="http://schemas.microsoft.com/office/drawing/2014/main" id="{D7949EA5-41B6-4FFC-959D-8E7D4D2DF447}"/>
              </a:ext>
            </a:extLst>
          </p:cNvPr>
          <p:cNvSpPr>
            <a:spLocks xmlns:a="http://schemas.openxmlformats.org/drawingml/2006/main" noGrp="1"/>
          </p:cNvSpPr>
          <p:nvPr/>
        </p:nvSpPr>
        <p:spPr>
          <a:xfrm xmlns:a="http://schemas.openxmlformats.org/drawingml/2006/main">
            <a:off x="666750" y="3152775"/>
            <a:ext cx="857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575" b="1">
                <a:solidFill>
                  <a:srgbClr val="087E83"/>
                </a:solidFill>
                <a:latin typeface="Helvetica Neue"/>
                <a:ea typeface="Helvetica Neue"/>
                <a:cs typeface="Helvetica Neue"/>
              </a:defRPr>
            </a:pPr>
            <a:r>
              <a:rPr sz="4575" b="1">
                <a:solidFill>
                  <a:srgbClr val="087E83"/>
                </a:solidFill>
                <a:latin typeface="Helvetica Neue"/>
                <a:ea typeface="Helvetica Neue"/>
                <a:cs typeface="Helvetica Neue"/>
              </a:rPr>
              <a:t>B</a:t>
            </a:r>
          </a:p>
        </p:txBody>
      </p:sp>
      <p:sp>
        <p:nvSpPr>
          <p:cNvPr id="8" name="">
            <a:extLst xmlns:a="http://schemas.openxmlformats.org/drawingml/2006/main">
              <a:ext uri="{FF2B5EF4-FFF2-40B4-BE49-F238E27FC236}">
                <a16:creationId xmlns:a16="http://schemas.microsoft.com/office/drawing/2014/main" id="{167CAAC1-7FEA-441B-B58C-F3D95247817B}"/>
              </a:ext>
            </a:extLst>
          </p:cNvPr>
          <p:cNvSpPr>
            <a:spLocks xmlns:a="http://schemas.openxmlformats.org/drawingml/2006/main" noGrp="1"/>
          </p:cNvSpPr>
          <p:nvPr/>
        </p:nvSpPr>
        <p:spPr>
          <a:xfrm xmlns:a="http://schemas.openxmlformats.org/drawingml/2006/main">
            <a:off x="1600200" y="3114675"/>
            <a:ext cx="438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475" b="1">
                <a:solidFill>
                  <a:srgbClr val="102635"/>
                </a:solidFill>
                <a:latin typeface="Helvetica Neue"/>
                <a:ea typeface="Helvetica Neue"/>
                <a:cs typeface="Helvetica Neue"/>
              </a:defRPr>
            </a:pPr>
            <a:r>
              <a:rPr sz="2475" b="1">
                <a:solidFill>
                  <a:srgbClr val="102635"/>
                </a:solidFill>
                <a:latin typeface="Helvetica Neue"/>
                <a:ea typeface="Helvetica Neue"/>
                <a:cs typeface="Helvetica Neue"/>
              </a:rPr>
              <a:t>Active-sign model</a:t>
            </a:r>
          </a:p>
        </p:txBody>
      </p:sp>
      <p:sp>
        <p:nvSpPr>
          <p:cNvPr id="9" name="">
            <a:extLst xmlns:a="http://schemas.openxmlformats.org/drawingml/2006/main">
              <a:ext uri="{FF2B5EF4-FFF2-40B4-BE49-F238E27FC236}">
                <a16:creationId xmlns:a16="http://schemas.microsoft.com/office/drawing/2014/main" id="{0D1B153C-FBB0-466F-8C5F-3B5DA6DD4229}"/>
              </a:ext>
            </a:extLst>
          </p:cNvPr>
          <p:cNvSpPr>
            <a:spLocks xmlns:a="http://schemas.openxmlformats.org/drawingml/2006/main" noGrp="1"/>
          </p:cNvSpPr>
          <p:nvPr/>
        </p:nvSpPr>
        <p:spPr>
          <a:xfrm xmlns:a="http://schemas.openxmlformats.org/drawingml/2006/main">
            <a:off x="1600200" y="3629025"/>
            <a:ext cx="4476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0">
                <a:solidFill>
                  <a:srgbClr val="52656B"/>
                </a:solidFill>
                <a:latin typeface="Helvetica Neue"/>
                <a:ea typeface="Helvetica Neue"/>
                <a:cs typeface="Helvetica Neue"/>
              </a:defRPr>
            </a:pPr>
            <a:r>
              <a:rPr sz="1875" b="0">
                <a:solidFill>
                  <a:srgbClr val="52656B"/>
                </a:solidFill>
                <a:latin typeface="Helvetica Neue"/>
                <a:ea typeface="Helvetica Neue"/>
                <a:cs typeface="Helvetica Neue"/>
              </a:rPr>
              <a:t>Uses physical and environmental features; no complaint counts</a:t>
            </a:r>
          </a:p>
        </p:txBody>
      </p:sp>
      <p:sp>
        <p:nvSpPr>
          <p:cNvPr id="10" name="">
            <a:extLst xmlns:a="http://schemas.openxmlformats.org/drawingml/2006/main">
              <a:ext uri="{FF2B5EF4-FFF2-40B4-BE49-F238E27FC236}">
                <a16:creationId xmlns:a16="http://schemas.microsoft.com/office/drawing/2014/main" id="{D25064E4-B608-4F9A-B5A6-566C0F09843A}"/>
              </a:ext>
            </a:extLst>
          </p:cNvPr>
          <p:cNvSpPr>
            <a:spLocks xmlns:a="http://schemas.openxmlformats.org/drawingml/2006/main" noGrp="1"/>
          </p:cNvSpPr>
          <p:nvPr/>
        </p:nvSpPr>
        <p:spPr>
          <a:xfrm xmlns:a="http://schemas.openxmlformats.org/drawingml/2006/main">
            <a:off x="6353175" y="1666875"/>
            <a:ext cx="19050" cy="35242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1" name="">
            <a:extLst xmlns:a="http://schemas.openxmlformats.org/drawingml/2006/main">
              <a:ext uri="{FF2B5EF4-FFF2-40B4-BE49-F238E27FC236}">
                <a16:creationId xmlns:a16="http://schemas.microsoft.com/office/drawing/2014/main" id="{67308C25-8021-489B-BEDB-C66F068E0C93}"/>
              </a:ext>
            </a:extLst>
          </p:cNvPr>
          <p:cNvSpPr>
            <a:spLocks xmlns:a="http://schemas.openxmlformats.org/drawingml/2006/main" noGrp="1"/>
          </p:cNvSpPr>
          <p:nvPr/>
        </p:nvSpPr>
        <p:spPr>
          <a:xfrm xmlns:a="http://schemas.openxmlformats.org/drawingml/2006/main">
            <a:off x="6858000" y="1657350"/>
            <a:ext cx="45720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625" b="1">
                <a:solidFill>
                  <a:srgbClr val="102635"/>
                </a:solidFill>
                <a:latin typeface="Helvetica Neue"/>
                <a:ea typeface="Helvetica Neue"/>
                <a:cs typeface="Helvetica Neue"/>
              </a:defRPr>
            </a:pPr>
            <a:r>
              <a:rPr sz="2625" b="1">
                <a:solidFill>
                  <a:srgbClr val="102635"/>
                </a:solidFill>
                <a:latin typeface="Helvetica Neue"/>
                <a:ea typeface="Helvetica Neue"/>
                <a:cs typeface="Helvetica Neue"/>
              </a:rPr>
              <a:t>Silence Score</a:t>
            </a:r>
          </a:p>
        </p:txBody>
      </p:sp>
      <p:sp>
        <p:nvSpPr>
          <p:cNvPr id="12" name="">
            <a:extLst xmlns:a="http://schemas.openxmlformats.org/drawingml/2006/main">
              <a:ext uri="{FF2B5EF4-FFF2-40B4-BE49-F238E27FC236}">
                <a16:creationId xmlns:a16="http://schemas.microsoft.com/office/drawing/2014/main" id="{9E43CAB1-74C4-4928-8FA9-A9600475713A}"/>
              </a:ext>
            </a:extLst>
          </p:cNvPr>
          <p:cNvSpPr>
            <a:spLocks xmlns:a="http://schemas.openxmlformats.org/drawingml/2006/main" noGrp="1"/>
          </p:cNvSpPr>
          <p:nvPr/>
        </p:nvSpPr>
        <p:spPr>
          <a:xfrm xmlns:a="http://schemas.openxmlformats.org/drawingml/2006/main">
            <a:off x="6858000" y="2209800"/>
            <a:ext cx="4476750"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087E83"/>
                </a:solidFill>
                <a:latin typeface="Helvetica Neue"/>
                <a:ea typeface="Helvetica Neue"/>
                <a:cs typeface="Helvetica Neue"/>
              </a:defRPr>
            </a:pPr>
            <a:r>
              <a:rPr sz="2025" b="0">
                <a:solidFill>
                  <a:srgbClr val="087E83"/>
                </a:solidFill>
                <a:latin typeface="Helvetica Neue"/>
                <a:ea typeface="Helvetica Neue"/>
                <a:cs typeface="Helvetica Neue"/>
              </a:rPr>
              <a:t>risk percentile − report percentile</a:t>
            </a:r>
          </a:p>
        </p:txBody>
      </p:sp>
      <p:sp>
        <p:nvSpPr>
          <p:cNvPr id="13" name="">
            <a:extLst xmlns:a="http://schemas.openxmlformats.org/drawingml/2006/main">
              <a:ext uri="{FF2B5EF4-FFF2-40B4-BE49-F238E27FC236}">
                <a16:creationId xmlns:a16="http://schemas.microsoft.com/office/drawing/2014/main" id="{8C9ED754-CC3D-415E-AACB-CE7ED1988502}"/>
              </a:ext>
            </a:extLst>
          </p:cNvPr>
          <p:cNvSpPr>
            <a:spLocks xmlns:a="http://schemas.openxmlformats.org/drawingml/2006/main" noGrp="1"/>
          </p:cNvSpPr>
          <p:nvPr/>
        </p:nvSpPr>
        <p:spPr>
          <a:xfrm xmlns:a="http://schemas.openxmlformats.org/drawingml/2006/main">
            <a:off x="6858000" y="317182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087E83"/>
                </a:solidFill>
                <a:latin typeface="Helvetica Neue"/>
                <a:ea typeface="Helvetica Neue"/>
                <a:cs typeface="Helvetica Neue"/>
              </a:defRPr>
            </a:pPr>
            <a:r>
              <a:rPr sz="2325" b="1">
                <a:solidFill>
                  <a:srgbClr val="087E83"/>
                </a:solidFill>
                <a:latin typeface="Helvetica Neue"/>
                <a:ea typeface="Helvetica Neue"/>
                <a:cs typeface="Helvetica Neue"/>
              </a:rPr>
              <a:t>East Harlem North   +80</a:t>
            </a:r>
          </a:p>
        </p:txBody>
      </p:sp>
      <p:sp>
        <p:nvSpPr>
          <p:cNvPr id="14" name="">
            <a:extLst xmlns:a="http://schemas.openxmlformats.org/drawingml/2006/main">
              <a:ext uri="{FF2B5EF4-FFF2-40B4-BE49-F238E27FC236}">
                <a16:creationId xmlns:a16="http://schemas.microsoft.com/office/drawing/2014/main" id="{86CE0D5A-EB77-437C-B326-B4BF161F55DC}"/>
              </a:ext>
            </a:extLst>
          </p:cNvPr>
          <p:cNvSpPr>
            <a:spLocks xmlns:a="http://schemas.openxmlformats.org/drawingml/2006/main" noGrp="1"/>
          </p:cNvSpPr>
          <p:nvPr/>
        </p:nvSpPr>
        <p:spPr>
          <a:xfrm xmlns:a="http://schemas.openxmlformats.org/drawingml/2006/main">
            <a:off x="6858000" y="366712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0 complaints · 8.2% modeled risk</a:t>
            </a:r>
          </a:p>
        </p:txBody>
      </p:sp>
      <p:sp>
        <p:nvSpPr>
          <p:cNvPr id="15" name="">
            <a:extLst xmlns:a="http://schemas.openxmlformats.org/drawingml/2006/main">
              <a:ext uri="{FF2B5EF4-FFF2-40B4-BE49-F238E27FC236}">
                <a16:creationId xmlns:a16="http://schemas.microsoft.com/office/drawing/2014/main" id="{F7FA7E18-AE6C-4FBE-915B-0808C88AFCBA}"/>
              </a:ext>
            </a:extLst>
          </p:cNvPr>
          <p:cNvSpPr>
            <a:spLocks xmlns:a="http://schemas.openxmlformats.org/drawingml/2006/main" noGrp="1"/>
          </p:cNvSpPr>
          <p:nvPr/>
        </p:nvSpPr>
        <p:spPr>
          <a:xfrm xmlns:a="http://schemas.openxmlformats.org/drawingml/2006/main">
            <a:off x="6858000" y="4448175"/>
            <a:ext cx="4572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1">
                <a:solidFill>
                  <a:srgbClr val="52656B"/>
                </a:solidFill>
                <a:latin typeface="Helvetica Neue"/>
                <a:ea typeface="Helvetica Neue"/>
                <a:cs typeface="Helvetica Neue"/>
              </a:defRPr>
            </a:pPr>
            <a:r>
              <a:rPr sz="2325" b="1">
                <a:solidFill>
                  <a:srgbClr val="52656B"/>
                </a:solidFill>
                <a:latin typeface="Helvetica Neue"/>
                <a:ea typeface="Helvetica Neue"/>
                <a:cs typeface="Helvetica Neue"/>
              </a:rPr>
              <a:t>West Village   -15</a:t>
            </a:r>
          </a:p>
        </p:txBody>
      </p:sp>
      <p:sp>
        <p:nvSpPr>
          <p:cNvPr id="16" name="">
            <a:extLst xmlns:a="http://schemas.openxmlformats.org/drawingml/2006/main">
              <a:ext uri="{FF2B5EF4-FFF2-40B4-BE49-F238E27FC236}">
                <a16:creationId xmlns:a16="http://schemas.microsoft.com/office/drawing/2014/main" id="{CED0082F-CF2E-44C6-A04C-42E987FCE8C7}"/>
              </a:ext>
            </a:extLst>
          </p:cNvPr>
          <p:cNvSpPr>
            <a:spLocks xmlns:a="http://schemas.openxmlformats.org/drawingml/2006/main" noGrp="1"/>
          </p:cNvSpPr>
          <p:nvPr/>
        </p:nvSpPr>
        <p:spPr>
          <a:xfrm xmlns:a="http://schemas.openxmlformats.org/drawingml/2006/main">
            <a:off x="6858000" y="4943475"/>
            <a:ext cx="45720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00" b="0">
                <a:solidFill>
                  <a:srgbClr val="18313D"/>
                </a:solidFill>
                <a:latin typeface="Helvetica Neue"/>
                <a:ea typeface="Helvetica Neue"/>
                <a:cs typeface="Helvetica Neue"/>
              </a:defRPr>
            </a:pPr>
            <a:r>
              <a:rPr sz="1800" b="0">
                <a:solidFill>
                  <a:srgbClr val="18313D"/>
                </a:solidFill>
                <a:latin typeface="Helvetica Neue"/>
                <a:ea typeface="Helvetica Neue"/>
                <a:cs typeface="Helvetica Neue"/>
              </a:rPr>
              <a:t>31 complaints · 4.3% modeled risk</a:t>
            </a:r>
          </a:p>
        </p:txBody>
      </p:sp>
      <p:sp>
        <p:nvSpPr>
          <p:cNvPr id="17" name="">
            <a:extLst xmlns:a="http://schemas.openxmlformats.org/drawingml/2006/main">
              <a:ext uri="{FF2B5EF4-FFF2-40B4-BE49-F238E27FC236}">
                <a16:creationId xmlns:a16="http://schemas.microsoft.com/office/drawing/2014/main" id="{5CBFAEFD-7792-426E-8570-6F845FFC1908}"/>
              </a:ext>
            </a:extLst>
          </p:cNvPr>
          <p:cNvSpPr>
            <a:spLocks xmlns:a="http://schemas.openxmlformats.org/drawingml/2006/main" noGrp="1"/>
          </p:cNvSpPr>
          <p:nvPr/>
        </p:nvSpPr>
        <p:spPr>
          <a:xfrm xmlns:a="http://schemas.openxmlformats.org/drawingml/2006/main">
            <a:off x="6858000" y="5743575"/>
            <a:ext cx="4572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425" b="0">
                <a:solidFill>
                  <a:srgbClr val="52656B"/>
                </a:solidFill>
                <a:latin typeface="Helvetica Neue"/>
                <a:ea typeface="Helvetica Neue"/>
                <a:cs typeface="Helvetica Neue"/>
              </a:defRPr>
            </a:pPr>
            <a:r>
              <a:rPr sz="1425" b="0">
                <a:solidFill>
                  <a:srgbClr val="52656B"/>
                </a:solidFill>
                <a:latin typeface="Helvetica Neue"/>
                <a:ea typeface="Helvetica Neue"/>
                <a:cs typeface="Helvetica Neue"/>
              </a:rPr>
              <a:t>Prior 12 months · September 2026 export</a:t>
            </a:r>
          </a:p>
        </p:txBody>
      </p:sp>
    </p:spTree>
    <p:extLst>
      <p:ext uri="{BB962C8B-B14F-4D97-AF65-F5344CB8AC3E}">
        <p14:creationId xmlns:p14="http://schemas.microsoft.com/office/powerpoint/2010/main" val="780220909"/>
      </p:ext>
    </p:extLst>
  </p:cSld>
</p:sld>
</file>

<file path=ppt/slides/slide3.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E7EA5D20-2642-41FA-8AB4-8A59845CE908}"/>
              </a:ext>
            </a:extLst>
          </p:cNvPr>
          <p:cNvSpPr>
            <a:spLocks xmlns:a="http://schemas.openxmlformats.org/drawingml/2006/main" noGrp="1"/>
          </p:cNvSpPr>
          <p:nvPr/>
        </p:nvSpPr>
        <p:spPr>
          <a:xfrm xmlns:a="http://schemas.openxmlformats.org/drawingml/2006/main">
            <a:off x="628650" y="400050"/>
            <a:ext cx="10934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02635"/>
                </a:solidFill>
                <a:latin typeface="Helvetica Neue"/>
                <a:ea typeface="Helvetica Neue"/>
                <a:cs typeface="Helvetica Neue"/>
              </a:defRPr>
            </a:pPr>
            <a:r>
              <a:rPr sz="3150" b="1">
                <a:solidFill>
                  <a:srgbClr val="102635"/>
                </a:solidFill>
                <a:latin typeface="Helvetica Neue"/>
                <a:ea typeface="Helvetica Neue"/>
                <a:cs typeface="Helvetica Neue"/>
              </a:rPr>
              <a:t>The ranking finds more active signs</a:t>
            </a:r>
          </a:p>
        </p:txBody>
      </p:sp>
      <p:sp>
        <p:nvSpPr>
          <p:cNvPr id="2" name="">
            <a:extLst xmlns:a="http://schemas.openxmlformats.org/drawingml/2006/main">
              <a:ext uri="{FF2B5EF4-FFF2-40B4-BE49-F238E27FC236}">
                <a16:creationId xmlns:a16="http://schemas.microsoft.com/office/drawing/2014/main" id="{CD3DCED8-F902-42D7-A40E-605990D26AA4}"/>
              </a:ext>
            </a:extLst>
          </p:cNvPr>
          <p:cNvSpPr>
            <a:spLocks xmlns:a="http://schemas.openxmlformats.org/drawingml/2006/main" noGrp="1"/>
          </p:cNvSpPr>
          <p:nvPr/>
        </p:nvSpPr>
        <p:spPr>
          <a:xfrm xmlns:a="http://schemas.openxmlformats.org/drawingml/2006/main">
            <a:off x="628650" y="1171575"/>
            <a:ext cx="109347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CA7F8D96-7E4B-4124-8A10-6CCC3DFC7F58}"/>
              </a:ext>
            </a:extLst>
          </p:cNvPr>
          <p:cNvSpPr>
            <a:spLocks xmlns:a="http://schemas.openxmlformats.org/drawingml/2006/main" noGrp="1"/>
          </p:cNvSpPr>
          <p:nvPr/>
        </p:nvSpPr>
        <p:spPr>
          <a:xfrm xmlns:a="http://schemas.openxmlformats.org/drawingml/2006/main">
            <a:off x="11096625" y="62865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8FA0BFE5-A3A6-451C-BAE3-FFABAFC29FDB}"/>
              </a:ext>
            </a:extLst>
          </p:cNvPr>
          <p:cNvSpPr>
            <a:spLocks xmlns:a="http://schemas.openxmlformats.org/drawingml/2006/main" noGrp="1"/>
          </p:cNvSpPr>
          <p:nvPr/>
        </p:nvSpPr>
        <p:spPr>
          <a:xfrm xmlns:a="http://schemas.openxmlformats.org/drawingml/2006/main">
            <a:off x="657225" y="1485900"/>
            <a:ext cx="3619500" cy="1085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6600" b="1">
                <a:solidFill>
                  <a:srgbClr val="087E83"/>
                </a:solidFill>
                <a:latin typeface="Helvetica Neue"/>
                <a:ea typeface="Helvetica Neue"/>
                <a:cs typeface="Helvetica Neue"/>
              </a:defRPr>
            </a:pPr>
            <a:r>
              <a:rPr sz="6600" b="1">
                <a:solidFill>
                  <a:srgbClr val="087E83"/>
                </a:solidFill>
                <a:latin typeface="Helvetica Neue"/>
                <a:ea typeface="Helvetica Neue"/>
                <a:cs typeface="Helvetica Neue"/>
              </a:rPr>
              <a:t>19.5%</a:t>
            </a:r>
          </a:p>
        </p:txBody>
      </p:sp>
      <p:sp>
        <p:nvSpPr>
          <p:cNvPr id="5" name="">
            <a:extLst xmlns:a="http://schemas.openxmlformats.org/drawingml/2006/main">
              <a:ext uri="{FF2B5EF4-FFF2-40B4-BE49-F238E27FC236}">
                <a16:creationId xmlns:a16="http://schemas.microsoft.com/office/drawing/2014/main" id="{616DDFB7-CA07-4ABD-89BD-E56AD8E2ED39}"/>
              </a:ext>
            </a:extLst>
          </p:cNvPr>
          <p:cNvSpPr>
            <a:spLocks xmlns:a="http://schemas.openxmlformats.org/drawingml/2006/main" noGrp="1"/>
          </p:cNvSpPr>
          <p:nvPr/>
        </p:nvSpPr>
        <p:spPr>
          <a:xfrm xmlns:a="http://schemas.openxmlformats.org/drawingml/2006/main">
            <a:off x="4229100" y="1695450"/>
            <a:ext cx="40481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900" b="1">
                <a:solidFill>
                  <a:srgbClr val="D96C50"/>
                </a:solidFill>
                <a:latin typeface="Helvetica Neue"/>
                <a:ea typeface="Helvetica Neue"/>
                <a:cs typeface="Helvetica Neue"/>
              </a:defRPr>
            </a:pPr>
            <a:r>
              <a:rPr sz="3900" b="1">
                <a:solidFill>
                  <a:srgbClr val="D96C50"/>
                </a:solidFill>
                <a:latin typeface="Helvetica Neue"/>
                <a:ea typeface="Helvetica Neue"/>
                <a:cs typeface="Helvetica Neue"/>
              </a:rPr>
              <a:t>vs 15.2%</a:t>
            </a:r>
          </a:p>
        </p:txBody>
      </p:sp>
      <p:sp>
        <p:nvSpPr>
          <p:cNvPr id="6" name="">
            <a:extLst xmlns:a="http://schemas.openxmlformats.org/drawingml/2006/main">
              <a:ext uri="{FF2B5EF4-FFF2-40B4-BE49-F238E27FC236}">
                <a16:creationId xmlns:a16="http://schemas.microsoft.com/office/drawing/2014/main" id="{9390F473-797F-422D-99B7-1BA662E41D85}"/>
              </a:ext>
            </a:extLst>
          </p:cNvPr>
          <p:cNvSpPr>
            <a:spLocks xmlns:a="http://schemas.openxmlformats.org/drawingml/2006/main" noGrp="1"/>
          </p:cNvSpPr>
          <p:nvPr/>
        </p:nvSpPr>
        <p:spPr>
          <a:xfrm xmlns:a="http://schemas.openxmlformats.org/drawingml/2006/main">
            <a:off x="676275" y="2552700"/>
            <a:ext cx="10572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Model B risk   /   prior 12-month 311 complaints</a:t>
            </a:r>
          </a:p>
        </p:txBody>
      </p:sp>
      <p:graphicFrame>
        <p:nvGraphicFramePr>
          <p:cNvPr id="15" name="Chart"/>
          <p:cNvGraphicFramePr/>
          <p:nvPr/>
        </p:nvGraphicFramePr>
        <p:xfrm>
          <a:off xmlns:a="http://schemas.openxmlformats.org/drawingml/2006/main" x="628650" y="3200400"/>
          <a:ext xmlns:a="http://schemas.openxmlformats.org/drawingml/2006/main" cx="10610850" cy="2390775"/>
        </p:xfrm>
        <a:graphic xmlns:a="http://schemas.openxmlformats.org/drawingml/2006/main">
          <a:graphicData uri="http://schemas.openxmlformats.org/drawingml/2006/chart">
            <c:chart xmlns:r="http://schemas.openxmlformats.org/officeDocument/2006/relationships" xmlns:c="http://schemas.openxmlformats.org/drawingml/2006/chart" r:id="R5e6912724c254ca1"/>
          </a:graphicData>
        </a:graphic>
      </p:graphicFrame>
      <p:sp>
        <p:nvSpPr>
          <p:cNvPr id="8" name="">
            <a:extLst xmlns:a="http://schemas.openxmlformats.org/drawingml/2006/main">
              <a:ext uri="{FF2B5EF4-FFF2-40B4-BE49-F238E27FC236}">
                <a16:creationId xmlns:a16="http://schemas.microsoft.com/office/drawing/2014/main" id="{ED7C8747-FFCE-4219-A9D3-650C95072FBB}"/>
              </a:ext>
            </a:extLst>
          </p:cNvPr>
          <p:cNvSpPr>
            <a:spLocks xmlns:a="http://schemas.openxmlformats.org/drawingml/2006/main" noGrp="1"/>
          </p:cNvSpPr>
          <p:nvPr/>
        </p:nvSpPr>
        <p:spPr>
          <a:xfrm xmlns:a="http://schemas.openxmlformats.org/drawingml/2006/main">
            <a:off x="666750" y="5676900"/>
            <a:ext cx="10525125"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575" b="0">
                <a:solidFill>
                  <a:srgbClr val="52656B"/>
                </a:solidFill>
                <a:latin typeface="Helvetica Neue"/>
                <a:ea typeface="Helvetica Neue"/>
                <a:cs typeface="Helvetica Neue"/>
              </a:defRPr>
            </a:pPr>
            <a:r>
              <a:rPr sz="1575" b="0">
                <a:solidFill>
                  <a:srgbClr val="52656B"/>
                </a:solidFill>
                <a:latin typeface="Helvetica Neue"/>
                <a:ea typeface="Helvetica Neue"/>
                <a:cs typeface="Helvetica Neue"/>
              </a:rPr>
              <a:t>Mean monthly share of swept lots with active signs. Top 50 swept cells each month, 119 months (2016–2026).</a:t>
            </a:r>
          </a:p>
        </p:txBody>
      </p:sp>
    </p:spTree>
    <p:extLst>
      <p:ext uri="{BB962C8B-B14F-4D97-AF65-F5344CB8AC3E}">
        <p14:creationId xmlns:p14="http://schemas.microsoft.com/office/powerpoint/2010/main" val="1715470222"/>
      </p:ext>
    </p:extLst>
  </p:cSld>
</p:sld>
</file>

<file path=ppt/slides/slide4.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22" name="">
            <a:extLst xmlns:a="http://schemas.openxmlformats.org/drawingml/2006/main">
              <a:ext uri="{FF2B5EF4-FFF2-40B4-BE49-F238E27FC236}">
                <a16:creationId xmlns:a16="http://schemas.microsoft.com/office/drawing/2014/main" id="{2BF588CB-877E-4E91-BE52-7BFE271A6274}"/>
              </a:ext>
            </a:extLst>
          </p:cNvPr>
          <p:cNvSpPr>
            <a:spLocks xmlns:a="http://schemas.openxmlformats.org/drawingml/2006/main" noGrp="1"/>
          </p:cNvSpPr>
          <p:nvPr/>
        </p:nvSpPr>
        <p:spPr>
          <a:xfrm xmlns:a="http://schemas.openxmlformats.org/drawingml/2006/main">
            <a:off x="628650" y="400050"/>
            <a:ext cx="10934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02635"/>
                </a:solidFill>
                <a:latin typeface="Helvetica Neue"/>
                <a:ea typeface="Helvetica Neue"/>
                <a:cs typeface="Helvetica Neue"/>
              </a:defRPr>
            </a:pPr>
            <a:r>
              <a:rPr sz="3150" b="1">
                <a:solidFill>
                  <a:srgbClr val="102635"/>
                </a:solidFill>
                <a:latin typeface="Helvetica Neue"/>
                <a:ea typeface="Helvetica Neue"/>
                <a:cs typeface="Helvetica Neue"/>
              </a:rPr>
              <a:t>A node checks the next candidate</a:t>
            </a:r>
          </a:p>
        </p:txBody>
      </p:sp>
      <p:sp>
        <p:nvSpPr>
          <p:cNvPr id="2" name="">
            <a:extLst xmlns:a="http://schemas.openxmlformats.org/drawingml/2006/main">
              <a:ext uri="{FF2B5EF4-FFF2-40B4-BE49-F238E27FC236}">
                <a16:creationId xmlns:a16="http://schemas.microsoft.com/office/drawing/2014/main" id="{211B7D4D-D08E-4C64-910C-4B9A54D48B4E}"/>
              </a:ext>
            </a:extLst>
          </p:cNvPr>
          <p:cNvSpPr>
            <a:spLocks xmlns:a="http://schemas.openxmlformats.org/drawingml/2006/main" noGrp="1"/>
          </p:cNvSpPr>
          <p:nvPr/>
        </p:nvSpPr>
        <p:spPr>
          <a:xfrm xmlns:a="http://schemas.openxmlformats.org/drawingml/2006/main">
            <a:off x="628650" y="1171575"/>
            <a:ext cx="109347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438B64EA-1798-4318-986F-59EEFC47C288}"/>
              </a:ext>
            </a:extLst>
          </p:cNvPr>
          <p:cNvSpPr>
            <a:spLocks xmlns:a="http://schemas.openxmlformats.org/drawingml/2006/main" noGrp="1"/>
          </p:cNvSpPr>
          <p:nvPr/>
        </p:nvSpPr>
        <p:spPr>
          <a:xfrm xmlns:a="http://schemas.openxmlformats.org/drawingml/2006/main">
            <a:off x="11096625" y="62865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04</a:t>
            </a:r>
          </a:p>
        </p:txBody>
      </p:sp>
      <p:sp>
        <p:nvSpPr>
          <p:cNvPr id="4" name="">
            <a:extLst xmlns:a="http://schemas.openxmlformats.org/drawingml/2006/main">
              <a:ext uri="{FF2B5EF4-FFF2-40B4-BE49-F238E27FC236}">
                <a16:creationId xmlns:a16="http://schemas.microsoft.com/office/drawing/2014/main" id="{0201355B-0EC8-4F91-91DF-287370199B60}"/>
              </a:ext>
            </a:extLst>
          </p:cNvPr>
          <p:cNvSpPr>
            <a:spLocks xmlns:a="http://schemas.openxmlformats.org/drawingml/2006/main" noGrp="1"/>
          </p:cNvSpPr>
          <p:nvPr/>
        </p:nvSpPr>
        <p:spPr>
          <a:xfrm xmlns:a="http://schemas.openxmlformats.org/drawingml/2006/main">
            <a:off x="676275" y="19050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087E83"/>
                </a:solidFill>
                <a:latin typeface="Helvetica Neue"/>
                <a:ea typeface="Helvetica Neue"/>
                <a:cs typeface="Helvetica Neue"/>
              </a:defRPr>
            </a:pPr>
            <a:r>
              <a:rPr sz="4275" b="1">
                <a:solidFill>
                  <a:srgbClr val="087E83"/>
                </a:solidFill>
                <a:latin typeface="Helvetica Neue"/>
                <a:ea typeface="Helvetica Neue"/>
                <a:cs typeface="Helvetica Neue"/>
              </a:rPr>
              <a:t>1</a:t>
            </a:r>
          </a:p>
        </p:txBody>
      </p:sp>
      <p:sp>
        <p:nvSpPr>
          <p:cNvPr id="5" name="">
            <a:extLst xmlns:a="http://schemas.openxmlformats.org/drawingml/2006/main">
              <a:ext uri="{FF2B5EF4-FFF2-40B4-BE49-F238E27FC236}">
                <a16:creationId xmlns:a16="http://schemas.microsoft.com/office/drawing/2014/main" id="{5F9075C4-FDF8-4E3D-B69E-379C860AF876}"/>
              </a:ext>
            </a:extLst>
          </p:cNvPr>
          <p:cNvSpPr>
            <a:spLocks xmlns:a="http://schemas.openxmlformats.org/drawingml/2006/main" noGrp="1"/>
          </p:cNvSpPr>
          <p:nvPr/>
        </p:nvSpPr>
        <p:spPr>
          <a:xfrm xmlns:a="http://schemas.openxmlformats.org/drawingml/2006/main">
            <a:off x="676275" y="2800350"/>
            <a:ext cx="223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02635"/>
                </a:solidFill>
                <a:latin typeface="Helvetica Neue"/>
                <a:ea typeface="Helvetica Neue"/>
                <a:cs typeface="Helvetica Neue"/>
              </a:defRPr>
            </a:pPr>
            <a:r>
              <a:rPr sz="2025" b="1">
                <a:solidFill>
                  <a:srgbClr val="102635"/>
                </a:solidFill>
                <a:latin typeface="Helvetica Neue"/>
                <a:ea typeface="Helvetica Neue"/>
                <a:cs typeface="Helvetica Neue"/>
              </a:rPr>
              <a:t>Pick a site</a:t>
            </a:r>
          </a:p>
        </p:txBody>
      </p:sp>
      <p:sp>
        <p:nvSpPr>
          <p:cNvPr id="6" name="">
            <a:extLst xmlns:a="http://schemas.openxmlformats.org/drawingml/2006/main">
              <a:ext uri="{FF2B5EF4-FFF2-40B4-BE49-F238E27FC236}">
                <a16:creationId xmlns:a16="http://schemas.microsoft.com/office/drawing/2014/main" id="{C2ECB93F-653A-4982-8FE0-535868D08A72}"/>
              </a:ext>
            </a:extLst>
          </p:cNvPr>
          <p:cNvSpPr>
            <a:spLocks xmlns:a="http://schemas.openxmlformats.org/drawingml/2006/main" noGrp="1"/>
          </p:cNvSpPr>
          <p:nvPr/>
        </p:nvSpPr>
        <p:spPr>
          <a:xfrm xmlns:a="http://schemas.openxmlformats.org/drawingml/2006/main">
            <a:off x="676275" y="3400425"/>
            <a:ext cx="2238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Rank risk × data gap;</a:t>
            </a:r>
          </a:p>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snap to a tree pit</a:t>
            </a:r>
          </a:p>
        </p:txBody>
      </p:sp>
      <p:sp>
        <p:nvSpPr>
          <p:cNvPr id="7" name="">
            <a:extLst xmlns:a="http://schemas.openxmlformats.org/drawingml/2006/main">
              <a:ext uri="{FF2B5EF4-FFF2-40B4-BE49-F238E27FC236}">
                <a16:creationId xmlns:a16="http://schemas.microsoft.com/office/drawing/2014/main" id="{F9AE6F18-D7F2-4499-A143-2E3CFC6FB670}"/>
              </a:ext>
            </a:extLst>
          </p:cNvPr>
          <p:cNvSpPr>
            <a:spLocks xmlns:a="http://schemas.openxmlformats.org/drawingml/2006/main" noGrp="1"/>
          </p:cNvSpPr>
          <p:nvPr/>
        </p:nvSpPr>
        <p:spPr>
          <a:xfrm xmlns:a="http://schemas.openxmlformats.org/drawingml/2006/main">
            <a:off x="3581400" y="19050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087E83"/>
                </a:solidFill>
                <a:latin typeface="Helvetica Neue"/>
                <a:ea typeface="Helvetica Neue"/>
                <a:cs typeface="Helvetica Neue"/>
              </a:defRPr>
            </a:pPr>
            <a:r>
              <a:rPr sz="4275" b="1">
                <a:solidFill>
                  <a:srgbClr val="087E83"/>
                </a:solidFill>
                <a:latin typeface="Helvetica Neue"/>
                <a:ea typeface="Helvetica Neue"/>
                <a:cs typeface="Helvetica Neue"/>
              </a:rPr>
              <a:t>2</a:t>
            </a:r>
          </a:p>
        </p:txBody>
      </p:sp>
      <p:sp>
        <p:nvSpPr>
          <p:cNvPr id="8" name="">
            <a:extLst xmlns:a="http://schemas.openxmlformats.org/drawingml/2006/main">
              <a:ext uri="{FF2B5EF4-FFF2-40B4-BE49-F238E27FC236}">
                <a16:creationId xmlns:a16="http://schemas.microsoft.com/office/drawing/2014/main" id="{0537CFAF-8DF7-41A5-B126-1008637EDB9F}"/>
              </a:ext>
            </a:extLst>
          </p:cNvPr>
          <p:cNvSpPr>
            <a:spLocks xmlns:a="http://schemas.openxmlformats.org/drawingml/2006/main" noGrp="1"/>
          </p:cNvSpPr>
          <p:nvPr/>
        </p:nvSpPr>
        <p:spPr>
          <a:xfrm xmlns:a="http://schemas.openxmlformats.org/drawingml/2006/main">
            <a:off x="3581400" y="2800350"/>
            <a:ext cx="223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02635"/>
                </a:solidFill>
                <a:latin typeface="Helvetica Neue"/>
                <a:ea typeface="Helvetica Neue"/>
                <a:cs typeface="Helvetica Neue"/>
              </a:defRPr>
            </a:pPr>
            <a:r>
              <a:rPr sz="2025" b="1">
                <a:solidFill>
                  <a:srgbClr val="102635"/>
                </a:solidFill>
                <a:latin typeface="Helvetica Neue"/>
                <a:ea typeface="Helvetica Neue"/>
                <a:cs typeface="Helvetica Neue"/>
              </a:rPr>
              <a:t>See the prop</a:t>
            </a:r>
          </a:p>
        </p:txBody>
      </p:sp>
      <p:sp>
        <p:nvSpPr>
          <p:cNvPr id="9" name="">
            <a:extLst xmlns:a="http://schemas.openxmlformats.org/drawingml/2006/main">
              <a:ext uri="{FF2B5EF4-FFF2-40B4-BE49-F238E27FC236}">
                <a16:creationId xmlns:a16="http://schemas.microsoft.com/office/drawing/2014/main" id="{9E13C169-CF85-4FF4-A69E-EC380CB6B820}"/>
              </a:ext>
            </a:extLst>
          </p:cNvPr>
          <p:cNvSpPr>
            <a:spLocks xmlns:a="http://schemas.openxmlformats.org/drawingml/2006/main" noGrp="1"/>
          </p:cNvSpPr>
          <p:nvPr/>
        </p:nvSpPr>
        <p:spPr>
          <a:xfrm xmlns:a="http://schemas.openxmlformats.org/drawingml/2006/main">
            <a:off x="3581400" y="3400425"/>
            <a:ext cx="2238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Pi 5 + NoIR camera;</a:t>
            </a:r>
          </a:p>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PIR wakes capture</a:t>
            </a:r>
          </a:p>
        </p:txBody>
      </p:sp>
      <p:sp>
        <p:nvSpPr>
          <p:cNvPr id="10" name="">
            <a:extLst xmlns:a="http://schemas.openxmlformats.org/drawingml/2006/main">
              <a:ext uri="{FF2B5EF4-FFF2-40B4-BE49-F238E27FC236}">
                <a16:creationId xmlns:a16="http://schemas.microsoft.com/office/drawing/2014/main" id="{8745F796-C76D-4D4F-8419-10CF3E358782}"/>
              </a:ext>
            </a:extLst>
          </p:cNvPr>
          <p:cNvSpPr>
            <a:spLocks xmlns:a="http://schemas.openxmlformats.org/drawingml/2006/main" noGrp="1"/>
          </p:cNvSpPr>
          <p:nvPr/>
        </p:nvSpPr>
        <p:spPr>
          <a:xfrm xmlns:a="http://schemas.openxmlformats.org/drawingml/2006/main">
            <a:off x="6486525" y="19050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087E83"/>
                </a:solidFill>
                <a:latin typeface="Helvetica Neue"/>
                <a:ea typeface="Helvetica Neue"/>
                <a:cs typeface="Helvetica Neue"/>
              </a:defRPr>
            </a:pPr>
            <a:r>
              <a:rPr sz="4275" b="1">
                <a:solidFill>
                  <a:srgbClr val="087E83"/>
                </a:solidFill>
                <a:latin typeface="Helvetica Neue"/>
                <a:ea typeface="Helvetica Neue"/>
                <a:cs typeface="Helvetica Neue"/>
              </a:rPr>
              <a:t>3</a:t>
            </a:r>
          </a:p>
        </p:txBody>
      </p:sp>
      <p:sp>
        <p:nvSpPr>
          <p:cNvPr id="11" name="">
            <a:extLst xmlns:a="http://schemas.openxmlformats.org/drawingml/2006/main">
              <a:ext uri="{FF2B5EF4-FFF2-40B4-BE49-F238E27FC236}">
                <a16:creationId xmlns:a16="http://schemas.microsoft.com/office/drawing/2014/main" id="{AA77C9FE-2C21-480E-BB1B-25D734F44AAA}"/>
              </a:ext>
            </a:extLst>
          </p:cNvPr>
          <p:cNvSpPr>
            <a:spLocks xmlns:a="http://schemas.openxmlformats.org/drawingml/2006/main" noGrp="1"/>
          </p:cNvSpPr>
          <p:nvPr/>
        </p:nvSpPr>
        <p:spPr>
          <a:xfrm xmlns:a="http://schemas.openxmlformats.org/drawingml/2006/main">
            <a:off x="6486525" y="2800350"/>
            <a:ext cx="223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02635"/>
                </a:solidFill>
                <a:latin typeface="Helvetica Neue"/>
                <a:ea typeface="Helvetica Neue"/>
                <a:cs typeface="Helvetica Neue"/>
              </a:defRPr>
            </a:pPr>
            <a:r>
              <a:rPr sz="2025" b="1">
                <a:solidFill>
                  <a:srgbClr val="102635"/>
                </a:solidFill>
                <a:latin typeface="Helvetica Neue"/>
                <a:ea typeface="Helvetica Neue"/>
                <a:cs typeface="Helvetica Neue"/>
              </a:rPr>
              <a:t>Send an event</a:t>
            </a:r>
          </a:p>
        </p:txBody>
      </p:sp>
      <p:sp>
        <p:nvSpPr>
          <p:cNvPr id="12" name="">
            <a:extLst xmlns:a="http://schemas.openxmlformats.org/drawingml/2006/main">
              <a:ext uri="{FF2B5EF4-FFF2-40B4-BE49-F238E27FC236}">
                <a16:creationId xmlns:a16="http://schemas.microsoft.com/office/drawing/2014/main" id="{68D715D9-B0B6-491F-A6E7-6F4D8834C55D}"/>
              </a:ext>
            </a:extLst>
          </p:cNvPr>
          <p:cNvSpPr>
            <a:spLocks xmlns:a="http://schemas.openxmlformats.org/drawingml/2006/main" noGrp="1"/>
          </p:cNvSpPr>
          <p:nvPr/>
        </p:nvSpPr>
        <p:spPr>
          <a:xfrm xmlns:a="http://schemas.openxmlformats.org/drawingml/2006/main">
            <a:off x="6486525" y="3400425"/>
            <a:ext cx="2238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On-device detector;</a:t>
            </a:r>
          </a:p>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rat crop and metadata</a:t>
            </a:r>
          </a:p>
        </p:txBody>
      </p:sp>
      <p:sp>
        <p:nvSpPr>
          <p:cNvPr id="13" name="">
            <a:extLst xmlns:a="http://schemas.openxmlformats.org/drawingml/2006/main">
              <a:ext uri="{FF2B5EF4-FFF2-40B4-BE49-F238E27FC236}">
                <a16:creationId xmlns:a16="http://schemas.microsoft.com/office/drawing/2014/main" id="{1D31A2FB-0705-4D3B-96E4-56D8964E1B1F}"/>
              </a:ext>
            </a:extLst>
          </p:cNvPr>
          <p:cNvSpPr>
            <a:spLocks xmlns:a="http://schemas.openxmlformats.org/drawingml/2006/main" noGrp="1"/>
          </p:cNvSpPr>
          <p:nvPr/>
        </p:nvSpPr>
        <p:spPr>
          <a:xfrm xmlns:a="http://schemas.openxmlformats.org/drawingml/2006/main">
            <a:off x="9391650" y="1905000"/>
            <a:ext cx="6667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4275" b="1">
                <a:solidFill>
                  <a:srgbClr val="087E83"/>
                </a:solidFill>
                <a:latin typeface="Helvetica Neue"/>
                <a:ea typeface="Helvetica Neue"/>
                <a:cs typeface="Helvetica Neue"/>
              </a:defRPr>
            </a:pPr>
            <a:r>
              <a:rPr sz="4275" b="1">
                <a:solidFill>
                  <a:srgbClr val="087E83"/>
                </a:solidFill>
                <a:latin typeface="Helvetica Neue"/>
                <a:ea typeface="Helvetica Neue"/>
                <a:cs typeface="Helvetica Neue"/>
              </a:rPr>
              <a:t>4</a:t>
            </a:r>
          </a:p>
        </p:txBody>
      </p:sp>
      <p:sp>
        <p:nvSpPr>
          <p:cNvPr id="14" name="">
            <a:extLst xmlns:a="http://schemas.openxmlformats.org/drawingml/2006/main">
              <a:ext uri="{FF2B5EF4-FFF2-40B4-BE49-F238E27FC236}">
                <a16:creationId xmlns:a16="http://schemas.microsoft.com/office/drawing/2014/main" id="{009627D0-01F2-4281-A7B6-A8F428CCC42E}"/>
              </a:ext>
            </a:extLst>
          </p:cNvPr>
          <p:cNvSpPr>
            <a:spLocks xmlns:a="http://schemas.openxmlformats.org/drawingml/2006/main" noGrp="1"/>
          </p:cNvSpPr>
          <p:nvPr/>
        </p:nvSpPr>
        <p:spPr>
          <a:xfrm xmlns:a="http://schemas.openxmlformats.org/drawingml/2006/main">
            <a:off x="9391650" y="2800350"/>
            <a:ext cx="2238375"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1">
                <a:solidFill>
                  <a:srgbClr val="102635"/>
                </a:solidFill>
                <a:latin typeface="Helvetica Neue"/>
                <a:ea typeface="Helvetica Neue"/>
                <a:cs typeface="Helvetica Neue"/>
              </a:defRPr>
            </a:pPr>
            <a:r>
              <a:rPr sz="2025" b="1">
                <a:solidFill>
                  <a:srgbClr val="102635"/>
                </a:solidFill>
                <a:latin typeface="Helvetica Neue"/>
                <a:ea typeface="Helvetica Neue"/>
                <a:cs typeface="Helvetica Neue"/>
              </a:rPr>
              <a:t>Update map</a:t>
            </a:r>
          </a:p>
        </p:txBody>
      </p:sp>
      <p:sp>
        <p:nvSpPr>
          <p:cNvPr id="15" name="">
            <a:extLst xmlns:a="http://schemas.openxmlformats.org/drawingml/2006/main">
              <a:ext uri="{FF2B5EF4-FFF2-40B4-BE49-F238E27FC236}">
                <a16:creationId xmlns:a16="http://schemas.microsoft.com/office/drawing/2014/main" id="{E2CA496A-6A83-4C57-948C-3D99BA6123B2}"/>
              </a:ext>
            </a:extLst>
          </p:cNvPr>
          <p:cNvSpPr>
            <a:spLocks xmlns:a="http://schemas.openxmlformats.org/drawingml/2006/main" noGrp="1"/>
          </p:cNvSpPr>
          <p:nvPr/>
        </p:nvSpPr>
        <p:spPr>
          <a:xfrm xmlns:a="http://schemas.openxmlformats.org/drawingml/2006/main">
            <a:off x="9391650" y="3400425"/>
            <a:ext cx="2238375" cy="1162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Chosen Beta prior</a:t>
            </a:r>
          </a:p>
          <a:p xmlns:a="http://schemas.openxmlformats.org/drawingml/2006/main">
            <a:pPr algn="l">
              <a:defRPr sz="1725" b="0">
                <a:solidFill>
                  <a:srgbClr val="18313D"/>
                </a:solidFill>
                <a:latin typeface="Helvetica Neue"/>
                <a:ea typeface="Helvetica Neue"/>
                <a:cs typeface="Helvetica Neue"/>
              </a:defRPr>
            </a:pPr>
            <a:r>
              <a:rPr sz="1725" b="0">
                <a:solidFill>
                  <a:srgbClr val="18313D"/>
                </a:solidFill>
                <a:latin typeface="Helvetica Neue"/>
                <a:ea typeface="Helvetica Neue"/>
                <a:cs typeface="Helvetica Neue"/>
              </a:rPr>
              <a:t>updates the cell</a:t>
            </a:r>
          </a:p>
        </p:txBody>
      </p:sp>
      <p:sp>
        <p:nvSpPr>
          <p:cNvPr id="16" name="">
            <a:extLst xmlns:a="http://schemas.openxmlformats.org/drawingml/2006/main">
              <a:ext uri="{FF2B5EF4-FFF2-40B4-BE49-F238E27FC236}">
                <a16:creationId xmlns:a16="http://schemas.microsoft.com/office/drawing/2014/main" id="{0692F684-4BD9-425E-A955-3EE1B522EDE5}"/>
              </a:ext>
            </a:extLst>
          </p:cNvPr>
          <p:cNvSpPr>
            <a:spLocks xmlns:a="http://schemas.openxmlformats.org/drawingml/2006/main" noGrp="1"/>
          </p:cNvSpPr>
          <p:nvPr/>
        </p:nvSpPr>
        <p:spPr>
          <a:xfrm xmlns:a="http://schemas.openxmlformats.org/drawingml/2006/main">
            <a:off x="3143250" y="2743200"/>
            <a:ext cx="428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D96C50"/>
                </a:solidFill>
                <a:latin typeface="Helvetica Neue"/>
                <a:ea typeface="Helvetica Neue"/>
                <a:cs typeface="Helvetica Neue"/>
              </a:defRPr>
            </a:pPr>
            <a:r>
              <a:rPr sz="2850" b="1">
                <a:solidFill>
                  <a:srgbClr val="D96C50"/>
                </a:solidFill>
                <a:latin typeface="Helvetica Neue"/>
                <a:ea typeface="Helvetica Neue"/>
                <a:cs typeface="Helvetica Neue"/>
              </a:rPr>
              <a:t>→</a:t>
            </a:r>
          </a:p>
        </p:txBody>
      </p:sp>
      <p:sp>
        <p:nvSpPr>
          <p:cNvPr id="17" name="">
            <a:extLst xmlns:a="http://schemas.openxmlformats.org/drawingml/2006/main">
              <a:ext uri="{FF2B5EF4-FFF2-40B4-BE49-F238E27FC236}">
                <a16:creationId xmlns:a16="http://schemas.microsoft.com/office/drawing/2014/main" id="{AEF1E863-4B2B-4608-9B90-B914E4BB6517}"/>
              </a:ext>
            </a:extLst>
          </p:cNvPr>
          <p:cNvSpPr>
            <a:spLocks xmlns:a="http://schemas.openxmlformats.org/drawingml/2006/main" noGrp="1"/>
          </p:cNvSpPr>
          <p:nvPr/>
        </p:nvSpPr>
        <p:spPr>
          <a:xfrm xmlns:a="http://schemas.openxmlformats.org/drawingml/2006/main">
            <a:off x="6048375" y="2743200"/>
            <a:ext cx="428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D96C50"/>
                </a:solidFill>
                <a:latin typeface="Helvetica Neue"/>
                <a:ea typeface="Helvetica Neue"/>
                <a:cs typeface="Helvetica Neue"/>
              </a:defRPr>
            </a:pPr>
            <a:r>
              <a:rPr sz="2850" b="1">
                <a:solidFill>
                  <a:srgbClr val="D96C50"/>
                </a:solidFill>
                <a:latin typeface="Helvetica Neue"/>
                <a:ea typeface="Helvetica Neue"/>
                <a:cs typeface="Helvetica Neue"/>
              </a:rPr>
              <a:t>→</a:t>
            </a:r>
          </a:p>
        </p:txBody>
      </p:sp>
      <p:sp>
        <p:nvSpPr>
          <p:cNvPr id="18" name="">
            <a:extLst xmlns:a="http://schemas.openxmlformats.org/drawingml/2006/main">
              <a:ext uri="{FF2B5EF4-FFF2-40B4-BE49-F238E27FC236}">
                <a16:creationId xmlns:a16="http://schemas.microsoft.com/office/drawing/2014/main" id="{EC8A3914-7083-4282-AC93-CEAF36B14AB7}"/>
              </a:ext>
            </a:extLst>
          </p:cNvPr>
          <p:cNvSpPr>
            <a:spLocks xmlns:a="http://schemas.openxmlformats.org/drawingml/2006/main" noGrp="1"/>
          </p:cNvSpPr>
          <p:nvPr/>
        </p:nvSpPr>
        <p:spPr>
          <a:xfrm xmlns:a="http://schemas.openxmlformats.org/drawingml/2006/main">
            <a:off x="8953500" y="2743200"/>
            <a:ext cx="4286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850" b="1">
                <a:solidFill>
                  <a:srgbClr val="D96C50"/>
                </a:solidFill>
                <a:latin typeface="Helvetica Neue"/>
                <a:ea typeface="Helvetica Neue"/>
                <a:cs typeface="Helvetica Neue"/>
              </a:defRPr>
            </a:pPr>
            <a:r>
              <a:rPr sz="2850" b="1">
                <a:solidFill>
                  <a:srgbClr val="D96C50"/>
                </a:solidFill>
                <a:latin typeface="Helvetica Neue"/>
                <a:ea typeface="Helvetica Neue"/>
                <a:cs typeface="Helvetica Neue"/>
              </a:rPr>
              <a:t>→</a:t>
            </a:r>
          </a:p>
        </p:txBody>
      </p:sp>
      <p:sp>
        <p:nvSpPr>
          <p:cNvPr id="19" name="">
            <a:extLst xmlns:a="http://schemas.openxmlformats.org/drawingml/2006/main">
              <a:ext uri="{FF2B5EF4-FFF2-40B4-BE49-F238E27FC236}">
                <a16:creationId xmlns:a16="http://schemas.microsoft.com/office/drawing/2014/main" id="{486C64D5-4D9A-4F3D-BFB6-C0359280970C}"/>
              </a:ext>
            </a:extLst>
          </p:cNvPr>
          <p:cNvSpPr>
            <a:spLocks xmlns:a="http://schemas.openxmlformats.org/drawingml/2006/main" noGrp="1"/>
          </p:cNvSpPr>
          <p:nvPr/>
        </p:nvSpPr>
        <p:spPr>
          <a:xfrm xmlns:a="http://schemas.openxmlformats.org/drawingml/2006/main">
            <a:off x="666750" y="4895850"/>
            <a:ext cx="106680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52A6ECD7-4D20-4025-93E3-B112E7EB12FD}"/>
              </a:ext>
            </a:extLst>
          </p:cNvPr>
          <p:cNvSpPr>
            <a:spLocks xmlns:a="http://schemas.openxmlformats.org/drawingml/2006/main" noGrp="1"/>
          </p:cNvSpPr>
          <p:nvPr/>
        </p:nvSpPr>
        <p:spPr>
          <a:xfrm xmlns:a="http://schemas.openxmlformats.org/drawingml/2006/main">
            <a:off x="676275" y="5153025"/>
            <a:ext cx="1809750" cy="466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1875" b="1">
                <a:solidFill>
                  <a:srgbClr val="087E83"/>
                </a:solidFill>
                <a:latin typeface="Helvetica Neue"/>
                <a:ea typeface="Helvetica Neue"/>
                <a:cs typeface="Helvetica Neue"/>
              </a:defRPr>
            </a:pPr>
            <a:r>
              <a:rPr sz="1875" b="1">
                <a:solidFill>
                  <a:srgbClr val="087E83"/>
                </a:solidFill>
                <a:latin typeface="Helvetica Neue"/>
                <a:ea typeface="Helvetica Neue"/>
                <a:cs typeface="Helvetica Neue"/>
              </a:rPr>
              <a:t>Live demo</a:t>
            </a:r>
          </a:p>
        </p:txBody>
      </p:sp>
      <p:sp>
        <p:nvSpPr>
          <p:cNvPr id="21" name="">
            <a:extLst xmlns:a="http://schemas.openxmlformats.org/drawingml/2006/main">
              <a:ext uri="{FF2B5EF4-FFF2-40B4-BE49-F238E27FC236}">
                <a16:creationId xmlns:a16="http://schemas.microsoft.com/office/drawing/2014/main" id="{6E5575DD-DD95-4D00-8D3C-08437682C5AA}"/>
              </a:ext>
            </a:extLst>
          </p:cNvPr>
          <p:cNvSpPr>
            <a:spLocks xmlns:a="http://schemas.openxmlformats.org/drawingml/2006/main" noGrp="1"/>
          </p:cNvSpPr>
          <p:nvPr/>
        </p:nvSpPr>
        <p:spPr>
          <a:xfrm xmlns:a="http://schemas.openxmlformats.org/drawingml/2006/main">
            <a:off x="2276475" y="5143500"/>
            <a:ext cx="91249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250" b="0">
                <a:solidFill>
                  <a:srgbClr val="18313D"/>
                </a:solidFill>
                <a:latin typeface="Helvetica Neue"/>
                <a:ea typeface="Helvetica Neue"/>
                <a:cs typeface="Helvetica Neue"/>
              </a:defRPr>
            </a:pPr>
            <a:r>
              <a:rPr sz="2250" b="0">
                <a:solidFill>
                  <a:srgbClr val="18313D"/>
                </a:solidFill>
                <a:latin typeface="Helvetica Neue"/>
                <a:ea typeface="Helvetica Neue"/>
                <a:cs typeface="Helvetica Neue"/>
              </a:rPr>
              <a:t>Toy rat → event feed → updated cell score</a:t>
            </a:r>
          </a:p>
        </p:txBody>
      </p:sp>
    </p:spTree>
    <p:extLst>
      <p:ext uri="{BB962C8B-B14F-4D97-AF65-F5344CB8AC3E}">
        <p14:creationId xmlns:p14="http://schemas.microsoft.com/office/powerpoint/2010/main" val="2141474925"/>
      </p:ext>
    </p:extLst>
  </p:cSld>
</p:sld>
</file>

<file path=ppt/slides/slide5.xml><?xml version="1.0" encoding="utf-8"?>
<p:sld xmlns:p="http://schemas.openxmlformats.org/presentationml/2006/main">
  <p:cSld>
    <p:bg>
      <p:bgPr>
        <a:solidFill xmlns:a="http://schemas.openxmlformats.org/drawingml/2006/main">
          <a:srgbClr val="F8F8F2"/>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46DF84D0-20EF-4013-95DC-9637AEF9A936}"/>
              </a:ext>
            </a:extLst>
          </p:cNvPr>
          <p:cNvSpPr>
            <a:spLocks xmlns:a="http://schemas.openxmlformats.org/drawingml/2006/main" noGrp="1"/>
          </p:cNvSpPr>
          <p:nvPr/>
        </p:nvSpPr>
        <p:spPr>
          <a:xfrm xmlns:a="http://schemas.openxmlformats.org/drawingml/2006/main">
            <a:off x="628650" y="400050"/>
            <a:ext cx="109347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3150" b="1">
                <a:solidFill>
                  <a:srgbClr val="102635"/>
                </a:solidFill>
                <a:latin typeface="Helvetica Neue"/>
                <a:ea typeface="Helvetica Neue"/>
                <a:cs typeface="Helvetica Neue"/>
              </a:defRPr>
            </a:pPr>
            <a:r>
              <a:rPr sz="3150" b="1">
                <a:solidFill>
                  <a:srgbClr val="102635"/>
                </a:solidFill>
                <a:latin typeface="Helvetica Neue"/>
                <a:ea typeface="Helvetica Neue"/>
                <a:cs typeface="Helvetica Neue"/>
              </a:rPr>
              <a:t>What is real today</a:t>
            </a:r>
          </a:p>
        </p:txBody>
      </p:sp>
      <p:sp>
        <p:nvSpPr>
          <p:cNvPr id="2" name="">
            <a:extLst xmlns:a="http://schemas.openxmlformats.org/drawingml/2006/main">
              <a:ext uri="{FF2B5EF4-FFF2-40B4-BE49-F238E27FC236}">
                <a16:creationId xmlns:a16="http://schemas.microsoft.com/office/drawing/2014/main" id="{B7AF01FA-4B9C-43FB-8ABE-8EA2A2B608C1}"/>
              </a:ext>
            </a:extLst>
          </p:cNvPr>
          <p:cNvSpPr>
            <a:spLocks xmlns:a="http://schemas.openxmlformats.org/drawingml/2006/main" noGrp="1"/>
          </p:cNvSpPr>
          <p:nvPr/>
        </p:nvSpPr>
        <p:spPr>
          <a:xfrm xmlns:a="http://schemas.openxmlformats.org/drawingml/2006/main">
            <a:off x="628650" y="1171575"/>
            <a:ext cx="1093470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3" name="">
            <a:extLst xmlns:a="http://schemas.openxmlformats.org/drawingml/2006/main">
              <a:ext uri="{FF2B5EF4-FFF2-40B4-BE49-F238E27FC236}">
                <a16:creationId xmlns:a16="http://schemas.microsoft.com/office/drawing/2014/main" id="{0D14B82E-72FA-4010-B561-A6389C429831}"/>
              </a:ext>
            </a:extLst>
          </p:cNvPr>
          <p:cNvSpPr>
            <a:spLocks xmlns:a="http://schemas.openxmlformats.org/drawingml/2006/main" noGrp="1"/>
          </p:cNvSpPr>
          <p:nvPr/>
        </p:nvSpPr>
        <p:spPr>
          <a:xfrm xmlns:a="http://schemas.openxmlformats.org/drawingml/2006/main">
            <a:off x="11096625" y="6286500"/>
            <a:ext cx="4953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r">
              <a:defRPr sz="1050" b="0">
                <a:solidFill>
                  <a:srgbClr val="52656B"/>
                </a:solidFill>
                <a:latin typeface="Helvetica Neue"/>
                <a:ea typeface="Helvetica Neue"/>
                <a:cs typeface="Helvetica Neue"/>
              </a:defRPr>
            </a:pPr>
            <a:r>
              <a:rPr sz="1050" b="0">
                <a:solidFill>
                  <a:srgbClr val="52656B"/>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A8D783D0-6558-424B-8481-7C21826FACF4}"/>
              </a:ext>
            </a:extLst>
          </p:cNvPr>
          <p:cNvSpPr>
            <a:spLocks xmlns:a="http://schemas.openxmlformats.org/drawingml/2006/main" noGrp="1"/>
          </p:cNvSpPr>
          <p:nvPr/>
        </p:nvSpPr>
        <p:spPr>
          <a:xfrm xmlns:a="http://schemas.openxmlformats.org/drawingml/2006/main">
            <a:off x="666750" y="1647825"/>
            <a:ext cx="1809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087E83"/>
                </a:solidFill>
                <a:latin typeface="Helvetica Neue"/>
                <a:ea typeface="Helvetica Neue"/>
                <a:cs typeface="Helvetica Neue"/>
              </a:defRPr>
            </a:pPr>
            <a:r>
              <a:rPr sz="2700" b="1">
                <a:solidFill>
                  <a:srgbClr val="087E83"/>
                </a:solidFill>
                <a:latin typeface="Helvetica Neue"/>
                <a:ea typeface="Helvetica Neue"/>
                <a:cs typeface="Helvetica Neue"/>
              </a:rPr>
              <a:t>Real</a:t>
            </a:r>
          </a:p>
        </p:txBody>
      </p:sp>
      <p:sp>
        <p:nvSpPr>
          <p:cNvPr id="5" name="">
            <a:extLst xmlns:a="http://schemas.openxmlformats.org/drawingml/2006/main">
              <a:ext uri="{FF2B5EF4-FFF2-40B4-BE49-F238E27FC236}">
                <a16:creationId xmlns:a16="http://schemas.microsoft.com/office/drawing/2014/main" id="{9A296ECF-BA8C-4338-B64D-1518BA3C1AE4}"/>
              </a:ext>
            </a:extLst>
          </p:cNvPr>
          <p:cNvSpPr>
            <a:spLocks xmlns:a="http://schemas.openxmlformats.org/drawingml/2006/main" noGrp="1"/>
          </p:cNvSpPr>
          <p:nvPr/>
        </p:nvSpPr>
        <p:spPr>
          <a:xfrm xmlns:a="http://schemas.openxmlformats.org/drawingml/2006/main">
            <a:off x="666750" y="2305050"/>
            <a:ext cx="5143500" cy="2295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75" b="0">
                <a:solidFill>
                  <a:srgbClr val="18313D"/>
                </a:solidFill>
                <a:latin typeface="Helvetica Neue"/>
                <a:ea typeface="Helvetica Neue"/>
                <a:cs typeface="Helvetica Neue"/>
              </a:defRPr>
            </a:pPr>
            <a:r>
              <a:rPr sz="2175" b="0">
                <a:solidFill>
                  <a:srgbClr val="18313D"/>
                </a:solidFill>
                <a:latin typeface="Helvetica Neue"/>
                <a:ea typeface="Helvetica Neue"/>
                <a:cs typeface="Helvetica Neue"/>
              </a:rPr>
              <a:t>NYC data and sweep outcomes</a:t>
            </a:r>
          </a:p>
          <a:p xmlns:a="http://schemas.openxmlformats.org/drawingml/2006/main">
            <a:pPr algn="l">
              <a:defRPr sz="2175" b="0">
                <a:solidFill>
                  <a:srgbClr val="18313D"/>
                </a:solidFill>
                <a:latin typeface="Helvetica Neue"/>
                <a:ea typeface="Helvetica Neue"/>
                <a:cs typeface="Helvetica Neue"/>
              </a:defRPr>
            </a:pPr>
            <a:r>
              <a:rPr sz="2175" b="0">
                <a:solidFill>
                  <a:srgbClr val="18313D"/>
                </a:solidFill>
                <a:latin typeface="Helvetica Neue"/>
                <a:ea typeface="Helvetica Neue"/>
                <a:cs typeface="Helvetica Neue"/>
              </a:rPr>
              <a:t>Cell models and a 119-month backtest</a:t>
            </a:r>
          </a:p>
          <a:p xmlns:a="http://schemas.openxmlformats.org/drawingml/2006/main">
            <a:pPr algn="l">
              <a:defRPr sz="2175" b="0">
                <a:solidFill>
                  <a:srgbClr val="18313D"/>
                </a:solidFill>
                <a:latin typeface="Helvetica Neue"/>
                <a:ea typeface="Helvetica Neue"/>
                <a:cs typeface="Helvetica Neue"/>
              </a:defRPr>
            </a:pPr>
            <a:r>
              <a:rPr sz="2175" b="0">
                <a:solidFill>
                  <a:srgbClr val="18313D"/>
                </a:solidFill>
                <a:latin typeface="Helvetica Neue"/>
                <a:ea typeface="Helvetica Neue"/>
                <a:cs typeface="Helvetica Neue"/>
              </a:rPr>
              <a:t>Pi 5 camera, PIR and IR capture verified</a:t>
            </a:r>
          </a:p>
        </p:txBody>
      </p:sp>
      <p:sp>
        <p:nvSpPr>
          <p:cNvPr id="6" name="">
            <a:extLst xmlns:a="http://schemas.openxmlformats.org/drawingml/2006/main">
              <a:ext uri="{FF2B5EF4-FFF2-40B4-BE49-F238E27FC236}">
                <a16:creationId xmlns:a16="http://schemas.microsoft.com/office/drawing/2014/main" id="{E4B637EC-296F-480A-A17F-8B54B092408C}"/>
              </a:ext>
            </a:extLst>
          </p:cNvPr>
          <p:cNvSpPr>
            <a:spLocks xmlns:a="http://schemas.openxmlformats.org/drawingml/2006/main" noGrp="1"/>
          </p:cNvSpPr>
          <p:nvPr/>
        </p:nvSpPr>
        <p:spPr>
          <a:xfrm xmlns:a="http://schemas.openxmlformats.org/drawingml/2006/main">
            <a:off x="6076950" y="1666875"/>
            <a:ext cx="19050" cy="335280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7" name="">
            <a:extLst xmlns:a="http://schemas.openxmlformats.org/drawingml/2006/main">
              <a:ext uri="{FF2B5EF4-FFF2-40B4-BE49-F238E27FC236}">
                <a16:creationId xmlns:a16="http://schemas.microsoft.com/office/drawing/2014/main" id="{1AA8D206-D87A-45E9-AFB5-0979D6368AE1}"/>
              </a:ext>
            </a:extLst>
          </p:cNvPr>
          <p:cNvSpPr>
            <a:spLocks xmlns:a="http://schemas.openxmlformats.org/drawingml/2006/main" noGrp="1"/>
          </p:cNvSpPr>
          <p:nvPr/>
        </p:nvSpPr>
        <p:spPr>
          <a:xfrm xmlns:a="http://schemas.openxmlformats.org/drawingml/2006/main">
            <a:off x="6629400" y="1647825"/>
            <a:ext cx="45720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700" b="1">
                <a:solidFill>
                  <a:srgbClr val="D96C50"/>
                </a:solidFill>
                <a:latin typeface="Helvetica Neue"/>
                <a:ea typeface="Helvetica Neue"/>
                <a:cs typeface="Helvetica Neue"/>
              </a:defRPr>
            </a:pPr>
            <a:r>
              <a:rPr sz="2700" b="1">
                <a:solidFill>
                  <a:srgbClr val="D96C50"/>
                </a:solidFill>
                <a:latin typeface="Helvetica Neue"/>
                <a:ea typeface="Helvetica Neue"/>
                <a:cs typeface="Helvetica Neue"/>
              </a:rPr>
              <a:t>Demo and open work</a:t>
            </a:r>
          </a:p>
        </p:txBody>
      </p:sp>
      <p:sp>
        <p:nvSpPr>
          <p:cNvPr id="8" name="">
            <a:extLst xmlns:a="http://schemas.openxmlformats.org/drawingml/2006/main">
              <a:ext uri="{FF2B5EF4-FFF2-40B4-BE49-F238E27FC236}">
                <a16:creationId xmlns:a16="http://schemas.microsoft.com/office/drawing/2014/main" id="{25AC90A5-086B-4374-8A1C-E7E014F29AFD}"/>
              </a:ext>
            </a:extLst>
          </p:cNvPr>
          <p:cNvSpPr>
            <a:spLocks xmlns:a="http://schemas.openxmlformats.org/drawingml/2006/main" noGrp="1"/>
          </p:cNvSpPr>
          <p:nvPr/>
        </p:nvSpPr>
        <p:spPr>
          <a:xfrm xmlns:a="http://schemas.openxmlformats.org/drawingml/2006/main">
            <a:off x="6629400" y="2305050"/>
            <a:ext cx="4619625" cy="2286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Toy-rat detector; held-out rig validation pending</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Chosen event prior; candidate re-rank</a:t>
            </a:r>
          </a:p>
          <a:p xmlns:a="http://schemas.openxmlformats.org/drawingml/2006/main">
            <a:pPr algn="l">
              <a:defRPr sz="2025" b="0">
                <a:solidFill>
                  <a:srgbClr val="18313D"/>
                </a:solidFill>
                <a:latin typeface="Helvetica Neue"/>
                <a:ea typeface="Helvetica Neue"/>
                <a:cs typeface="Helvetica Neue"/>
              </a:defRPr>
            </a:pPr>
            <a:r>
              <a:rPr sz="2025" b="0">
                <a:solidFill>
                  <a:srgbClr val="18313D"/>
                </a:solidFill>
                <a:latin typeface="Helvetica Neue"/>
                <a:ea typeface="Helvetica Neue"/>
                <a:cs typeface="Helvetica Neue"/>
              </a:rPr>
              <a:t>No field deployment or rat population count</a:t>
            </a:r>
          </a:p>
        </p:txBody>
      </p:sp>
      <p:sp>
        <p:nvSpPr>
          <p:cNvPr id="9" name="">
            <a:extLst xmlns:a="http://schemas.openxmlformats.org/drawingml/2006/main">
              <a:ext uri="{FF2B5EF4-FFF2-40B4-BE49-F238E27FC236}">
                <a16:creationId xmlns:a16="http://schemas.microsoft.com/office/drawing/2014/main" id="{37179F6F-F185-4CFF-A5FB-1420FF38F43C}"/>
              </a:ext>
            </a:extLst>
          </p:cNvPr>
          <p:cNvSpPr>
            <a:spLocks xmlns:a="http://schemas.openxmlformats.org/drawingml/2006/main" noGrp="1"/>
          </p:cNvSpPr>
          <p:nvPr/>
        </p:nvSpPr>
        <p:spPr>
          <a:xfrm xmlns:a="http://schemas.openxmlformats.org/drawingml/2006/main">
            <a:off x="666750" y="5057775"/>
            <a:ext cx="10572750" cy="19050"/>
          </a:xfrm>
          <a:prstGeom xmlns:a="http://schemas.openxmlformats.org/drawingml/2006/main" prst="rect">
            <a:avLst/>
          </a:prstGeom>
          <a:solidFill xmlns:a="http://schemas.openxmlformats.org/drawingml/2006/main">
            <a:srgbClr val="E6ECE8"/>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470690C9-7C20-41C0-B066-C21EA4B44D18}"/>
              </a:ext>
            </a:extLst>
          </p:cNvPr>
          <p:cNvSpPr>
            <a:spLocks xmlns:a="http://schemas.openxmlformats.org/drawingml/2006/main" noGrp="1"/>
          </p:cNvSpPr>
          <p:nvPr/>
        </p:nvSpPr>
        <p:spPr>
          <a:xfrm xmlns:a="http://schemas.openxmlformats.org/drawingml/2006/main">
            <a:off x="666750" y="5314950"/>
            <a:ext cx="17430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100" b="1">
                <a:solidFill>
                  <a:srgbClr val="087E83"/>
                </a:solidFill>
                <a:latin typeface="Helvetica Neue"/>
                <a:ea typeface="Helvetica Neue"/>
                <a:cs typeface="Helvetica Neue"/>
              </a:defRPr>
            </a:pPr>
            <a:r>
              <a:rPr sz="2100" b="1">
                <a:solidFill>
                  <a:srgbClr val="087E83"/>
                </a:solidFill>
                <a:latin typeface="Helvetica Neue"/>
                <a:ea typeface="Helvetica Neue"/>
                <a:cs typeface="Helvetica Neue"/>
              </a:rPr>
              <a:t>Next test</a:t>
            </a:r>
          </a:p>
        </p:txBody>
      </p:sp>
      <p:sp>
        <p:nvSpPr>
          <p:cNvPr id="11" name="">
            <a:extLst xmlns:a="http://schemas.openxmlformats.org/drawingml/2006/main">
              <a:ext uri="{FF2B5EF4-FFF2-40B4-BE49-F238E27FC236}">
                <a16:creationId xmlns:a16="http://schemas.microsoft.com/office/drawing/2014/main" id="{11470DAC-FC34-4C1C-81BE-45B32EAACA72}"/>
              </a:ext>
            </a:extLst>
          </p:cNvPr>
          <p:cNvSpPr>
            <a:spLocks xmlns:a="http://schemas.openxmlformats.org/drawingml/2006/main" noGrp="1"/>
          </p:cNvSpPr>
          <p:nvPr/>
        </p:nvSpPr>
        <p:spPr>
          <a:xfrm xmlns:a="http://schemas.openxmlformats.org/drawingml/2006/main">
            <a:off x="2390775" y="5267325"/>
            <a:ext cx="8905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Autofit/>
          </a:bodyPr>
          <a:lstStyle xmlns:a="http://schemas.openxmlformats.org/drawingml/2006/main"/>
          <a:p xmlns:a="http://schemas.openxmlformats.org/drawingml/2006/main">
            <a:pPr algn="l">
              <a:defRPr sz="2325" b="0">
                <a:solidFill>
                  <a:srgbClr val="102635"/>
                </a:solidFill>
                <a:latin typeface="Helvetica Neue"/>
                <a:ea typeface="Helvetica Neue"/>
                <a:cs typeface="Helvetica Neue"/>
              </a:defRPr>
            </a:pPr>
            <a:r>
              <a:rPr sz="2325" b="0">
                <a:solidFill>
                  <a:srgbClr val="102635"/>
                </a:solidFill>
                <a:latin typeface="Helvetica Neue"/>
                <a:ea typeface="Helvetica Neue"/>
                <a:cs typeface="Helvetica Neue"/>
              </a:rPr>
              <a:t>A supervised 50-node pilot, checked against later sweeps.</a:t>
            </a:r>
          </a:p>
        </p:txBody>
      </p:sp>
    </p:spTree>
    <p:extLst>
      <p:ext uri="{BB962C8B-B14F-4D97-AF65-F5344CB8AC3E}">
        <p14:creationId xmlns:p14="http://schemas.microsoft.com/office/powerpoint/2010/main" val="806756434"/>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2026-09-26T23:28:48.7200000Z</dcterms:created>
  <dcterms:modified xsi:type="dcterms:W3CDTF">2026-09-26T23:28:48.7200000Z</dcterms:modified>
</coreProperties>
</file>