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eee68b45f94aab" /><Relationship Type="http://schemas.openxmlformats.org/officeDocument/2006/relationships/extended-properties" Target="/docProps/app.xml" Id="R29a17053a9064273" /><Relationship Type="http://schemas.openxmlformats.org/officeDocument/2006/relationships/officeDocument" Target="/ppt/presentation.xml" Id="Rb1841cc83d4e4bd1" /></Relationships>
</file>

<file path=ppt/presentation.xml><?xml version="1.0" encoding="utf-8"?>
<p:presentation xmlns:p="http://schemas.openxmlformats.org/presentationml/2006/main">
  <p:sldMasterIdLst>
    <p:sldMasterId xmlns:r="http://schemas.openxmlformats.org/officeDocument/2006/relationships" id="2147483648" r:id="R92bffcbedd214407"/>
  </p:sldMasterIdLst>
  <p:notesMasterIdLst>
    <p:notesMasterId xmlns:r="http://schemas.openxmlformats.org/officeDocument/2006/relationships" r:id="Rc28985271fab4fb8"/>
  </p:notesMasterIdLst>
  <p:sldIdLst>
    <p:sldId xmlns:r="http://schemas.openxmlformats.org/officeDocument/2006/relationships" id="256" r:id="R4a074f06aee945c1"/>
    <p:sldId xmlns:r="http://schemas.openxmlformats.org/officeDocument/2006/relationships" id="257" r:id="R170fd61faffc47b3"/>
    <p:sldId xmlns:r="http://schemas.openxmlformats.org/officeDocument/2006/relationships" id="258" r:id="R522dc22c866d42f3"/>
    <p:sldId xmlns:r="http://schemas.openxmlformats.org/officeDocument/2006/relationships" id="259" r:id="R7d8c5991ce3345c2"/>
    <p:sldId xmlns:r="http://schemas.openxmlformats.org/officeDocument/2006/relationships" id="260" r:id="R4ae65511269a46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a85d3fb02846f2" /><Relationship Type="http://schemas.openxmlformats.org/officeDocument/2006/relationships/slideMaster" Target="/ppt/slideMasters/slideMaster1.xml" Id="R92bffcbedd214407" /><Relationship Type="http://schemas.openxmlformats.org/officeDocument/2006/relationships/notesMaster" Target="/ppt/notesMasters/notesMaster1.xml" Id="Rc28985271fab4fb8" /><Relationship Type="http://schemas.openxmlformats.org/officeDocument/2006/relationships/presProps" Target="/ppt/presProps.xml" Id="R1d5896d82ea24ba7" /><Relationship Type="http://schemas.openxmlformats.org/officeDocument/2006/relationships/tableStyles" Target="/ppt/tableStyles.xml" Id="R02353d25c62047f0" /><Relationship Type="http://schemas.openxmlformats.org/officeDocument/2006/relationships/slide" Target="/ppt/slides/slide1.xml" Id="R4a074f06aee945c1" /><Relationship Type="http://schemas.openxmlformats.org/officeDocument/2006/relationships/slide" Target="/ppt/slides/slide2.xml" Id="R170fd61faffc47b3" /><Relationship Type="http://schemas.openxmlformats.org/officeDocument/2006/relationships/slide" Target="/ppt/slides/slide3.xml" Id="R522dc22c866d42f3" /><Relationship Type="http://schemas.openxmlformats.org/officeDocument/2006/relationships/slide" Target="/ppt/slides/slide4.xml" Id="R7d8c5991ce3345c2" /><Relationship Type="http://schemas.openxmlformats.org/officeDocument/2006/relationships/slide" Target="/ppt/slides/slide5.xml" Id="R4ae65511269a46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d8f5a6c8342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0fadba740b414d" /><Relationship Type="http://schemas.openxmlformats.org/officeDocument/2006/relationships/notesMaster" Target="/ppt/notesMasters/notesMaster1.xml" Id="R13cafddef84440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23df2f5ad04f06" /><Relationship Type="http://schemas.openxmlformats.org/officeDocument/2006/relationships/notesMaster" Target="/ppt/notesMasters/notesMaster1.xml" Id="Rd5491b4479fa41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3254087c2a40cf" /><Relationship Type="http://schemas.openxmlformats.org/officeDocument/2006/relationships/notesMaster" Target="/ppt/notesMasters/notesMaster1.xml" Id="R17fb9801665447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a96988484745f6" /><Relationship Type="http://schemas.openxmlformats.org/officeDocument/2006/relationships/notesMaster" Target="/ppt/notesMasters/notesMaster1.xml" Id="R09325fe5565144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446fdfffcf44fe" /><Relationship Type="http://schemas.openxmlformats.org/officeDocument/2006/relationships/notesMaster" Target="/ppt/notesMasters/notesMaster1.xml" Id="Rda3b98b5eb9845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someone must choose to report. Night Owl compares those reports with inspection findings on swept blocks. Those inspections provide the outcome for training and backtesting. They cover only the places that crews swept.</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Night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room-lit physical Pi 5 camera fed the locked V5 ONNX detector for 89.859 seconds. The observer inferred 1,346 frames at 14.98 processed frames per second, mean 59.15 milliseconds per frame. It saved six event crops; root and the API reviewer inspected all six and each showed the same visible plush. Exactly one genuine event from the live Pi observer was relayed to the local API on the Mac, which returned HTTP 200 and accepted it. The node was live-v5-observer in H3 cell 892a100d467ffff at 2026-09-27 04:52:03.340 UTC. The served score changed from .1297 to .1618, sightings from one to two, and candidate rank from two to one. The visible map screenshot shows the new sighting and rank-one site. The other five saved events were not posted. This verifies a supervised live Pi camera-to-detector-to-local-API-to-map loop on a room-lit plush prop. It does not establish field reliability, wild-rat or infrared performance, or the .90 detector target. PIR wakes capture; the detector decides. An accepted event updates a chosen Beta prior and reranks candidates; it does not retrain Model B.</a:t>
            </a:r>
          </a:p>
          <a:p xmlns:a="http://schemas.openxmlformats.org/drawingml/2006/main">
            <a:r>
              <a:t/>
            </a:r>
          </a:p>
          <a:p xmlns:a="http://schemas.openxmlformats.org/drawingml/2006/main">
            <a:r>
              <a:t>Source: pitch/evidence/v5-live-run-stats.json; pitch/evidence/v5-live-integration-result.json; pitch/assets/live-pi-map-20260927.png; api/posterior.py; vision/V5_FORMAL_EVENT_RESULTS.md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city data, cell models, and 119-month swept-cell backtest exist. One room-lit plush event traveled from the live Pi camera through the local API to the map. That proves the path worked once. V5 is still the demo detector. V4 scored rat AP50 .925806 on 59 same-session frames and .882675 on 439 new-room frames. V5 used those new-room clips for tuning and scored .960806 on its weakest development clip. Its fresh box test scored .615779 rat AP50 as run on 369 frames; PyTorch and ONNX matched. Source review found shifted and oversized reference boxes. Thirty-one correction proposals remain unadopted, so there is no corrected score. The .90 box target was not established. A separate fixed recorded event test alerted on 18 of 19 reviewed plush appearances but produced 17 false alerts in 190.409 seconds without a plush, above the limit of fewer than .5 per minute. Sixteen false alerts targeted one cap and one targeted a partial shoe. All 43 positive event crops showed the plush, but include repeat firings. That event test failed, and 19 appearances also fall short of 20 requested pushes. V6 trained for 30 epochs on added hard negatives but failed its preset development floors: table_c rat AP50 .892 versus .936 required, table_c person .801 versus .820, and old-combined person .742 versus .808. The team did not replay V6 or put it on the Pi. Neither version has demonstrated general field, IR, or wild-rat performance. Improve cap and shoe handling, then test on new independent footage before a pilot.</a:t>
            </a:r>
          </a:p>
          <a:p xmlns:a="http://schemas.openxmlformats.org/drawingml/2006/main">
            <a:r>
              <a:t/>
            </a:r>
          </a:p>
          <a:p xmlns:a="http://schemas.openxmlformats.org/drawingml/2006/main">
            <a:r>
              <a:t>Source: vision/V5_FORMAL_EVENT_RESULTS.md; vision/V5_FRESH_RESULTS.md; vision/V6_PLAN.md; pitch/evidence/v6-checkpoint-selection.json; pitch/evidence/v5-live-integration-result.json; pitch/evidence/v5-live-run-stats.json; model/out/backtest.json; api/posterior.py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1ebda928b41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cdb650568f4d9c" /><Relationship Type="http://schemas.openxmlformats.org/officeDocument/2006/relationships/slideLayout" Target="/ppt/slideLayouts/slideLayout1.xml" Id="R9edd9ee84ba645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dd9ee84ba645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0a6d0c0e3845e1" /><Relationship Type="http://schemas.openxmlformats.org/officeDocument/2006/relationships/notesSlide" Target="/ppt/notesSlides/notesSlide1.xml" Id="Rb65253865d1d45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090610b2c34448" /><Relationship Type="http://schemas.openxmlformats.org/officeDocument/2006/relationships/notesSlide" Target="/ppt/notesSlides/notesSlide2.xml" Id="Rf0eb22596f0c42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bdba268b4b4a69" /><Relationship Type="http://schemas.openxmlformats.org/officeDocument/2006/relationships/chart" Target="/ppt/slides/charts/chart1.xml" Id="R5a380235ff294fe8" /><Relationship Type="http://schemas.openxmlformats.org/officeDocument/2006/relationships/notesSlide" Target="/ppt/notesSlides/notesSlide3.xml" Id="Rbf168a38aed641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3443a0ffa74273" /><Relationship Type="http://schemas.openxmlformats.org/officeDocument/2006/relationships/image" Target="/ppt/media/image.jpeg" Id="R71c1ddef8bae44a4" /><Relationship Type="http://schemas.openxmlformats.org/officeDocument/2006/relationships/notesSlide" Target="/ppt/notesSlides/notesSlide4.xml" Id="Rf6e78042abd048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72299a3f81492c" /><Relationship Type="http://schemas.openxmlformats.org/officeDocument/2006/relationships/notesSlide" Target="/ppt/notesSlides/notesSlide5.xml" Id="Rca981893343e4c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2EC8C7-E70F-4EF3-8573-5D05C018F9D8}"/>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NIGHT OWL</a:t>
            </a:r>
          </a:p>
        </p:txBody>
      </p:sp>
      <p:sp>
        <p:nvSpPr>
          <p:cNvPr id="2" name="">
            <a:extLst xmlns:a="http://schemas.openxmlformats.org/drawingml/2006/main">
              <a:ext uri="{FF2B5EF4-FFF2-40B4-BE49-F238E27FC236}">
                <a16:creationId xmlns:a16="http://schemas.microsoft.com/office/drawing/2014/main" id="{41000FFA-6AFC-451E-8D80-49DF2BCB5488}"/>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Model active rat signs beyond 311 reports</a:t>
            </a:r>
          </a:p>
        </p:txBody>
      </p:sp>
      <p:sp>
        <p:nvSpPr>
          <p:cNvPr id="3" name="">
            <a:extLst xmlns:a="http://schemas.openxmlformats.org/drawingml/2006/main">
              <a:ext uri="{FF2B5EF4-FFF2-40B4-BE49-F238E27FC236}">
                <a16:creationId xmlns:a16="http://schemas.microsoft.com/office/drawing/2014/main" id="{7E9960E6-2545-45DF-B967-5CE5D0B992BC}"/>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F7CDF7-7773-4D2D-88D7-C5144ABF96BF}"/>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FDDF9461-2F5B-419C-BA23-785F50FCEC4E}"/>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120784326"/>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903C72-01E7-44CE-A456-299631A5FAFA}"/>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0E7FE446-E815-4E6D-A00D-2F8B24D3D6B1}"/>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02CF7F-4499-45CE-8075-6DD215273A4E}"/>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6914862-C262-43E3-B39C-5E365694B29B}"/>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FA01B147-A8F4-4252-8828-86DADDE707F2}"/>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1D5727DF-DBB7-481E-8FB8-44FF545BAD68}"/>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75C1D9D3-5525-4F98-81A3-D6638BD870CA}"/>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182F5C93-E879-478F-A5F4-A466AC22B9FD}"/>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54AA7D66-3DFC-4F66-B547-9284C4C90408}"/>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C681D2C5-7BE9-4B52-B965-507E244E2C54}"/>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5978C3-DBB3-4DD2-B41D-C36399A9D884}"/>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CD315762-82BA-4040-98AE-40FB2A25543E}"/>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99134F31-6FE0-4EDD-BC04-F554ECBFA466}"/>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005F38F5-2683-437B-B21A-5BA092C382FF}"/>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E4407D24-29DF-4448-A658-2E4B208F6540}"/>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0766D0E6-EF1C-4C87-80FB-D288A4D34E6E}"/>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C4DB1FA5-856C-4ADA-9FA2-046FD4EEBF06}"/>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1207049095"/>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81965A-B5A7-4777-AF37-22CF8ADD7AAF}"/>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Higher active-sign share among swept cells</a:t>
            </a:r>
          </a:p>
        </p:txBody>
      </p:sp>
      <p:sp>
        <p:nvSpPr>
          <p:cNvPr id="2" name="">
            <a:extLst xmlns:a="http://schemas.openxmlformats.org/drawingml/2006/main">
              <a:ext uri="{FF2B5EF4-FFF2-40B4-BE49-F238E27FC236}">
                <a16:creationId xmlns:a16="http://schemas.microsoft.com/office/drawing/2014/main" id="{A309E60E-FEC4-40F7-BE58-0B554212BFDE}"/>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AF8592-A9BB-476F-A050-11B4C2C16EAF}"/>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513ADCE-6B2A-4071-9214-D6AEE23C04ED}"/>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9F9B1752-B686-4B4A-BC55-88AC98B86B0E}"/>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71204818-FA41-475E-ACC6-0F1D8B631131}"/>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5a380235ff294fe8"/>
          </a:graphicData>
        </a:graphic>
      </p:graphicFrame>
      <p:sp>
        <p:nvSpPr>
          <p:cNvPr id="8" name="">
            <a:extLst xmlns:a="http://schemas.openxmlformats.org/drawingml/2006/main">
              <a:ext uri="{FF2B5EF4-FFF2-40B4-BE49-F238E27FC236}">
                <a16:creationId xmlns:a16="http://schemas.microsoft.com/office/drawing/2014/main" id="{D73D13D0-23EC-43C3-8BCA-287897692F50}"/>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161963922"/>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3C821D-E0E3-4E71-87DB-839EBB91E7FC}"/>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A live Pi event reaches the map</a:t>
            </a:r>
          </a:p>
        </p:txBody>
      </p:sp>
      <p:sp>
        <p:nvSpPr>
          <p:cNvPr id="2" name="">
            <a:extLst xmlns:a="http://schemas.openxmlformats.org/drawingml/2006/main">
              <a:ext uri="{FF2B5EF4-FFF2-40B4-BE49-F238E27FC236}">
                <a16:creationId xmlns:a16="http://schemas.microsoft.com/office/drawing/2014/main" id="{83BF5326-7C6E-4687-9C0D-35BE93E8C1F7}"/>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AA2E1F-6FCE-44B5-B978-12C8EA783ED2}"/>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F781ADB8-1A1E-476C-9766-6425ADD8109B}"/>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3CAB861A-246B-4E65-8537-1E609A70D617}"/>
              </a:ext>
            </a:extLst>
          </p:cNvPr>
          <p:cNvSpPr>
            <a:spLocks xmlns:a="http://schemas.openxmlformats.org/drawingml/2006/main" noGrp="1"/>
          </p:cNvSpPr>
          <p:nvPr/>
        </p:nvSpPr>
        <p:spPr>
          <a:xfrm xmlns:a="http://schemas.openxmlformats.org/drawingml/2006/main">
            <a:off x="1400175" y="15049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0A6EE18D-C3A3-4968-AAC2-5E2F5CE81A2F}"/>
              </a:ext>
            </a:extLst>
          </p:cNvPr>
          <p:cNvSpPr>
            <a:spLocks xmlns:a="http://schemas.openxmlformats.org/drawingml/2006/main" noGrp="1"/>
          </p:cNvSpPr>
          <p:nvPr/>
        </p:nvSpPr>
        <p:spPr>
          <a:xfrm xmlns:a="http://schemas.openxmlformats.org/drawingml/2006/main">
            <a:off x="1400175" y="18573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a:t>
            </a:r>
          </a:p>
        </p:txBody>
      </p:sp>
      <p:sp>
        <p:nvSpPr>
          <p:cNvPr id="7" name="">
            <a:extLst xmlns:a="http://schemas.openxmlformats.org/drawingml/2006/main">
              <a:ext uri="{FF2B5EF4-FFF2-40B4-BE49-F238E27FC236}">
                <a16:creationId xmlns:a16="http://schemas.microsoft.com/office/drawing/2014/main" id="{68C2119C-D1BF-4654-9329-5995FFF15E07}"/>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73F38A1F-8543-46BE-B43C-8E7054B3D338}"/>
              </a:ext>
            </a:extLst>
          </p:cNvPr>
          <p:cNvSpPr>
            <a:spLocks xmlns:a="http://schemas.openxmlformats.org/drawingml/2006/main" noGrp="1"/>
          </p:cNvSpPr>
          <p:nvPr/>
        </p:nvSpPr>
        <p:spPr>
          <a:xfrm xmlns:a="http://schemas.openxmlformats.org/drawingml/2006/main">
            <a:off x="1400175" y="23812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609828DE-4503-4F8E-8BE3-2D2E819E78F3}"/>
              </a:ext>
            </a:extLst>
          </p:cNvPr>
          <p:cNvSpPr>
            <a:spLocks xmlns:a="http://schemas.openxmlformats.org/drawingml/2006/main" noGrp="1"/>
          </p:cNvSpPr>
          <p:nvPr/>
        </p:nvSpPr>
        <p:spPr>
          <a:xfrm xmlns:a="http://schemas.openxmlformats.org/drawingml/2006/main">
            <a:off x="1400175" y="27336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Pi 5 camera watches the room-lit prop</a:t>
            </a:r>
          </a:p>
        </p:txBody>
      </p:sp>
      <p:sp>
        <p:nvSpPr>
          <p:cNvPr id="10" name="">
            <a:extLst xmlns:a="http://schemas.openxmlformats.org/drawingml/2006/main">
              <a:ext uri="{FF2B5EF4-FFF2-40B4-BE49-F238E27FC236}">
                <a16:creationId xmlns:a16="http://schemas.microsoft.com/office/drawing/2014/main" id="{AC145D32-E764-4C1D-9B35-F880E98C4809}"/>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106E3B14-7A63-4BB0-8C59-AFF803889052}"/>
              </a:ext>
            </a:extLst>
          </p:cNvPr>
          <p:cNvSpPr>
            <a:spLocks xmlns:a="http://schemas.openxmlformats.org/drawingml/2006/main" noGrp="1"/>
          </p:cNvSpPr>
          <p:nvPr/>
        </p:nvSpPr>
        <p:spPr>
          <a:xfrm xmlns:a="http://schemas.openxmlformats.org/drawingml/2006/main">
            <a:off x="1400175" y="32575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48C2DD1B-350E-455C-B271-0C03BCFC41AA}"/>
              </a:ext>
            </a:extLst>
          </p:cNvPr>
          <p:cNvSpPr>
            <a:spLocks xmlns:a="http://schemas.openxmlformats.org/drawingml/2006/main" noGrp="1"/>
          </p:cNvSpPr>
          <p:nvPr/>
        </p:nvSpPr>
        <p:spPr>
          <a:xfrm xmlns:a="http://schemas.openxmlformats.org/drawingml/2006/main">
            <a:off x="1400175" y="36099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V5 processed 1,346 live frames in 90 s</a:t>
            </a:r>
          </a:p>
        </p:txBody>
      </p:sp>
      <p:sp>
        <p:nvSpPr>
          <p:cNvPr id="13" name="">
            <a:extLst xmlns:a="http://schemas.openxmlformats.org/drawingml/2006/main">
              <a:ext uri="{FF2B5EF4-FFF2-40B4-BE49-F238E27FC236}">
                <a16:creationId xmlns:a16="http://schemas.microsoft.com/office/drawing/2014/main" id="{201B12DA-3F03-447E-BA5E-7F3C52A89C16}"/>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AFCE5F01-AA4C-469D-9C2F-AC5E2B481C8D}"/>
              </a:ext>
            </a:extLst>
          </p:cNvPr>
          <p:cNvSpPr>
            <a:spLocks xmlns:a="http://schemas.openxmlformats.org/drawingml/2006/main" noGrp="1"/>
          </p:cNvSpPr>
          <p:nvPr/>
        </p:nvSpPr>
        <p:spPr>
          <a:xfrm xmlns:a="http://schemas.openxmlformats.org/drawingml/2006/main">
            <a:off x="1400175" y="41338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CB0763FC-E33D-46FC-909F-D32CA9D1E125}"/>
              </a:ext>
            </a:extLst>
          </p:cNvPr>
          <p:cNvSpPr>
            <a:spLocks xmlns:a="http://schemas.openxmlformats.org/drawingml/2006/main" noGrp="1"/>
          </p:cNvSpPr>
          <p:nvPr/>
        </p:nvSpPr>
        <p:spPr>
          <a:xfrm xmlns:a="http://schemas.openxmlformats.org/drawingml/2006/main">
            <a:off x="1400175" y="44862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One genuine event reached the local API</a:t>
            </a:r>
          </a:p>
        </p:txBody>
      </p:sp>
      <p:sp>
        <p:nvSpPr>
          <p:cNvPr id="16" name="">
            <a:extLst xmlns:a="http://schemas.openxmlformats.org/drawingml/2006/main">
              <a:ext uri="{FF2B5EF4-FFF2-40B4-BE49-F238E27FC236}">
                <a16:creationId xmlns:a16="http://schemas.microsoft.com/office/drawing/2014/main" id="{E4B482B7-37AC-408F-AD59-2D0B2AF16632}"/>
              </a:ext>
            </a:extLst>
          </p:cNvPr>
          <p:cNvSpPr>
            <a:spLocks xmlns:a="http://schemas.openxmlformats.org/drawingml/2006/main" noGrp="1"/>
          </p:cNvSpPr>
          <p:nvPr/>
        </p:nvSpPr>
        <p:spPr>
          <a:xfrm xmlns:a="http://schemas.openxmlformats.org/drawingml/2006/main">
            <a:off x="6143625" y="1666875"/>
            <a:ext cx="19050" cy="3276600"/>
          </a:xfrm>
          <a:prstGeom xmlns:a="http://schemas.openxmlformats.org/drawingml/2006/main" prst="rect">
            <a:avLst/>
          </a:prstGeom>
          <a:solidFill xmlns:a="http://schemas.openxmlformats.org/drawingml/2006/main">
            <a:srgbClr val="E6ECE8"/>
          </a:solidFill>
          <a:ln xmlns:a="http://schemas.openxmlformats.org/drawingml/2006/main" w="0">
            <a:no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1c1ddef8bae44a4"/>
          <a:stretch xmlns:a="http://schemas.openxmlformats.org/drawingml/2006/main"/>
        </p:blipFill>
        <p:spPr>
          <a:xfrm xmlns:a="http://schemas.openxmlformats.org/drawingml/2006/main">
            <a:off x="6432021" y="1733550"/>
            <a:ext cx="4995333" cy="28098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8864563-7973-4A7D-A0AC-B502DC37648A}"/>
              </a:ext>
            </a:extLst>
          </p:cNvPr>
          <p:cNvSpPr>
            <a:spLocks xmlns:a="http://schemas.openxmlformats.org/drawingml/2006/main" noGrp="1"/>
          </p:cNvSpPr>
          <p:nvPr/>
        </p:nvSpPr>
        <p:spPr>
          <a:xfrm xmlns:a="http://schemas.openxmlformats.org/drawingml/2006/main">
            <a:off x="6429375" y="46005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56B"/>
                </a:solidFill>
                <a:latin typeface="Helvetica Neue"/>
                <a:ea typeface="Helvetica Neue"/>
                <a:cs typeface="Helvetica Neue"/>
              </a:defRPr>
            </a:pPr>
            <a:r>
              <a:rPr sz="1350" b="0">
                <a:solidFill>
                  <a:srgbClr val="52656B"/>
                </a:solidFill>
                <a:latin typeface="Helvetica Neue"/>
                <a:ea typeface="Helvetica Neue"/>
                <a:cs typeface="Helvetica Neue"/>
              </a:rPr>
              <a:t>Live map · two sightings · site rank 1</a:t>
            </a:r>
          </a:p>
        </p:txBody>
      </p:sp>
      <p:sp>
        <p:nvSpPr>
          <p:cNvPr id="19" name="">
            <a:extLst xmlns:a="http://schemas.openxmlformats.org/drawingml/2006/main">
              <a:ext uri="{FF2B5EF4-FFF2-40B4-BE49-F238E27FC236}">
                <a16:creationId xmlns:a16="http://schemas.microsoft.com/office/drawing/2014/main" id="{3FEEE359-75F6-4229-A750-0011EA7026B6}"/>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D20ADB-7E19-49E2-A321-C9FA744DE737}"/>
              </a:ext>
            </a:extLst>
          </p:cNvPr>
          <p:cNvSpPr>
            <a:spLocks xmlns:a="http://schemas.openxmlformats.org/drawingml/2006/main" noGrp="1"/>
          </p:cNvSpPr>
          <p:nvPr/>
        </p:nvSpPr>
        <p:spPr>
          <a:xfrm xmlns:a="http://schemas.openxmlformats.org/drawingml/2006/main">
            <a:off x="762000" y="5514975"/>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Live loop</a:t>
            </a:r>
          </a:p>
        </p:txBody>
      </p:sp>
      <p:sp>
        <p:nvSpPr>
          <p:cNvPr id="21" name="">
            <a:extLst xmlns:a="http://schemas.openxmlformats.org/drawingml/2006/main">
              <a:ext uri="{FF2B5EF4-FFF2-40B4-BE49-F238E27FC236}">
                <a16:creationId xmlns:a16="http://schemas.microsoft.com/office/drawing/2014/main" id="{188E8863-17AE-470C-8DAE-F1241A2A2447}"/>
              </a:ext>
            </a:extLst>
          </p:cNvPr>
          <p:cNvSpPr>
            <a:spLocks xmlns:a="http://schemas.openxmlformats.org/drawingml/2006/main" noGrp="1"/>
          </p:cNvSpPr>
          <p:nvPr/>
        </p:nvSpPr>
        <p:spPr>
          <a:xfrm xmlns:a="http://schemas.openxmlformats.org/drawingml/2006/main">
            <a:off x="2571750" y="5495925"/>
            <a:ext cx="866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13.0% → 16.2% · rank 2 → 1</a:t>
            </a:r>
          </a:p>
        </p:txBody>
      </p:sp>
    </p:spTree>
    <p:extLst>
      <p:ext uri="{BB962C8B-B14F-4D97-AF65-F5344CB8AC3E}">
        <p14:creationId xmlns:p14="http://schemas.microsoft.com/office/powerpoint/2010/main" val="1409625907"/>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37C9AC-75D4-4055-97D4-E3E251EC9733}"/>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B2C64B11-A11F-4B71-8CE6-A1621AE05BBA}"/>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430875-D0CB-4D5F-9F2B-A38B79CD7E8B}"/>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11817D7-DDDD-44B2-90D4-5A6D4ECA9CA5}"/>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915427CA-CAF5-4834-ADE2-89A770FA6526}"/>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and PIR at the hackathon</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Live plush event reached the map</a:t>
            </a:r>
          </a:p>
        </p:txBody>
      </p:sp>
      <p:sp>
        <p:nvSpPr>
          <p:cNvPr id="6" name="">
            <a:extLst xmlns:a="http://schemas.openxmlformats.org/drawingml/2006/main">
              <a:ext uri="{FF2B5EF4-FFF2-40B4-BE49-F238E27FC236}">
                <a16:creationId xmlns:a16="http://schemas.microsoft.com/office/drawing/2014/main" id="{1607EDF5-4935-43F1-B2DE-1B4614E97C36}"/>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A5EF3D-5981-44BF-B03C-9C599CB8D173}"/>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7E02F788-E992-4445-9066-81E18FE983B9}"/>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Fresh V5 box target not established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Formal replay: 17 false alerts / 190 s</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Cap and shoe caused those alerts</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Room-lit prop; no field deployment</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IR or wild-rat validation</a:t>
            </a:r>
          </a:p>
        </p:txBody>
      </p:sp>
      <p:sp>
        <p:nvSpPr>
          <p:cNvPr id="9" name="">
            <a:extLst xmlns:a="http://schemas.openxmlformats.org/drawingml/2006/main">
              <a:ext uri="{FF2B5EF4-FFF2-40B4-BE49-F238E27FC236}">
                <a16:creationId xmlns:a16="http://schemas.microsoft.com/office/drawing/2014/main" id="{B26205AF-BFDF-45D5-BEC8-9E57A42697FD}"/>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EF00EA0-D910-47B9-8E3F-D0CE07D840F0}"/>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913ADFBC-241B-4889-A020-8CDE79780930}"/>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02635"/>
                </a:solidFill>
                <a:latin typeface="Helvetica Neue"/>
                <a:ea typeface="Helvetica Neue"/>
                <a:cs typeface="Helvetica Neue"/>
              </a:defRPr>
            </a:pPr>
            <a:r>
              <a:rPr sz="2175" b="0">
                <a:solidFill>
                  <a:srgbClr val="102635"/>
                </a:solidFill>
                <a:latin typeface="Helvetica Neue"/>
                <a:ea typeface="Helvetica Neue"/>
                <a:cs typeface="Helvetica Neue"/>
              </a:rPr>
              <a:t>Improve cap and shoe handling, then test on new footage.</a:t>
            </a:r>
          </a:p>
        </p:txBody>
      </p:sp>
    </p:spTree>
    <p:extLst>
      <p:ext uri="{BB962C8B-B14F-4D97-AF65-F5344CB8AC3E}">
        <p14:creationId xmlns:p14="http://schemas.microsoft.com/office/powerpoint/2010/main" val="391533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2026-09-27T05:27:21.1450000Z</dcterms:created>
  <dcterms:modified xsi:type="dcterms:W3CDTF">2026-09-27T05:27:21.1450000Z</dcterms:modified>
</coreProperties>
</file>