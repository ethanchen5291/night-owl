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8c9c068fe7048f5" /><Relationship Type="http://schemas.openxmlformats.org/officeDocument/2006/relationships/extended-properties" Target="/docProps/app.xml" Id="Rc8400c1248884443" /><Relationship Type="http://schemas.openxmlformats.org/officeDocument/2006/relationships/officeDocument" Target="/ppt/presentation.xml" Id="R2e37e134cbcf4972" /></Relationships>
</file>

<file path=ppt/presentation.xml><?xml version="1.0" encoding="utf-8"?>
<p:presentation xmlns:p="http://schemas.openxmlformats.org/presentationml/2006/main">
  <p:sldMasterIdLst>
    <p:sldMasterId xmlns:r="http://schemas.openxmlformats.org/officeDocument/2006/relationships" id="2147483648" r:id="R3d9cad7fd27c4ba4"/>
  </p:sldMasterIdLst>
  <p:notesMasterIdLst>
    <p:notesMasterId xmlns:r="http://schemas.openxmlformats.org/officeDocument/2006/relationships" r:id="R1e744203d30e4c63"/>
  </p:notesMasterIdLst>
  <p:sldIdLst>
    <p:sldId xmlns:r="http://schemas.openxmlformats.org/officeDocument/2006/relationships" id="256" r:id="R61f3c89b003a4e2b"/>
    <p:sldId xmlns:r="http://schemas.openxmlformats.org/officeDocument/2006/relationships" id="257" r:id="Rbc7b7a4f95304af7"/>
    <p:sldId xmlns:r="http://schemas.openxmlformats.org/officeDocument/2006/relationships" id="258" r:id="Rdcca6dfed6f743ad"/>
    <p:sldId xmlns:r="http://schemas.openxmlformats.org/officeDocument/2006/relationships" id="259" r:id="Rcc5897d845af4adf"/>
    <p:sldId xmlns:r="http://schemas.openxmlformats.org/officeDocument/2006/relationships" id="260" r:id="Raef53cda4f6a48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30f92a23d5e4b1c" /><Relationship Type="http://schemas.openxmlformats.org/officeDocument/2006/relationships/slideMaster" Target="/ppt/slideMasters/slideMaster1.xml" Id="R3d9cad7fd27c4ba4" /><Relationship Type="http://schemas.openxmlformats.org/officeDocument/2006/relationships/notesMaster" Target="/ppt/notesMasters/notesMaster1.xml" Id="R1e744203d30e4c63" /><Relationship Type="http://schemas.openxmlformats.org/officeDocument/2006/relationships/presProps" Target="/ppt/presProps.xml" Id="R9d2da7f79cf34c25" /><Relationship Type="http://schemas.openxmlformats.org/officeDocument/2006/relationships/tableStyles" Target="/ppt/tableStyles.xml" Id="R0300157909574ca6" /><Relationship Type="http://schemas.openxmlformats.org/officeDocument/2006/relationships/slide" Target="/ppt/slides/slide1.xml" Id="R61f3c89b003a4e2b" /><Relationship Type="http://schemas.openxmlformats.org/officeDocument/2006/relationships/slide" Target="/ppt/slides/slide2.xml" Id="Rbc7b7a4f95304af7" /><Relationship Type="http://schemas.openxmlformats.org/officeDocument/2006/relationships/slide" Target="/ppt/slides/slide3.xml" Id="Rdcca6dfed6f743ad" /><Relationship Type="http://schemas.openxmlformats.org/officeDocument/2006/relationships/slide" Target="/ppt/slides/slide4.xml" Id="Rcc5897d845af4adf" /><Relationship Type="http://schemas.openxmlformats.org/officeDocument/2006/relationships/slide" Target="/ppt/slides/slide5.xml" Id="Raef53cda4f6a48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0dc6e8af3da47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7d4c6e44564c6b" /><Relationship Type="http://schemas.openxmlformats.org/officeDocument/2006/relationships/notesMaster" Target="/ppt/notesMasters/notesMaster1.xml" Id="R9c72e4b0f31a4d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90aacd72d14ccf" /><Relationship Type="http://schemas.openxmlformats.org/officeDocument/2006/relationships/notesMaster" Target="/ppt/notesMasters/notesMaster1.xml" Id="R84e366f683cf4c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7737fcd7854d69" /><Relationship Type="http://schemas.openxmlformats.org/officeDocument/2006/relationships/notesMaster" Target="/ppt/notesMasters/notesMaster1.xml" Id="Re38027a111ea4a8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a8dfbb567d43f4" /><Relationship Type="http://schemas.openxmlformats.org/officeDocument/2006/relationships/notesMaster" Target="/ppt/notesMasters/notesMaster1.xml" Id="Rcc443d80b2ed4a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c5ed6a52aa4f93" /><Relationship Type="http://schemas.openxmlformats.org/officeDocument/2006/relationships/notesMaster" Target="/ppt/notesMasters/notesMaster1.xml" Id="Re9bd7c1a25cd4d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room-lit physical Pi 5 camera fed the locked V5 ONNX detector for 89.859 seconds. The observer inferred 1,346 frames at 14.98 processed frames per second, mean 59.15 milliseconds per frame. It saved six event crops; root and the API reviewer inspected all six and each showed the same visible plush. Exactly one genuine event from the live Pi observer was relayed to the local API on the Mac, which returned HTTP 200 and accepted it. The node was live-v5-observer in H3 cell 892a100d467ffff at 2026-09-27 04:52:03.340 UTC. The served score changed from .1297 to .1618, sightings from one to two, and candidate rank from two to one. The visible map screenshot shows the new sighting and rank-one site. The other five saved events were not posted. This verifies a supervised live Pi camera-to-detector-to-local-API-to-map loop on a room-lit plush prop. It does not establish field reliability, wild-rat or infrared performance, or the .90 detector target. PIR wakes capture; the detector decides. An accepted event updates a chosen Beta prior and reranks candidates; it does not retrain Model B.</a:t>
            </a:r>
          </a:p>
          <a:p xmlns:a="http://schemas.openxmlformats.org/drawingml/2006/main">
            <a:r>
              <a:t/>
            </a:r>
          </a:p>
          <a:p xmlns:a="http://schemas.openxmlformats.org/drawingml/2006/main">
            <a:r>
              <a:t>Source: pitch/evidence/v5-live-run-stats.json; pitch/evidence/v5-live-integration-result.json; pitch/assets/live-pi-map-20260927.png; api/posterior.py; vision/V5_FORMAL_EVENT_RESULTS.md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city data, cell models and 119-month swept-cell backtest exist. The live room-lit plush Pi-to-local-API-to-map loop is verified on one accepted event; see slide four. Detector readiness is separate. V4 scored rat AP50 .925806 on 59 adjacent same-session frames, then .882675 on 439 reviewed new-room frames. V5 used those new-room clips for tuning and scored .960806 rat AP50 on its weakest development clip and .975279 combined over 146 development frames. Its frozen fresh box test measured .615779 rat AP50 as run on 369 frames, with exact PyTorch/ONNX AP parity. Completed source-only annotation QC found shifted and oversized reference boxes; 31 correction proposals remain unadopted and no corrected AP exists. The .90 box target is not established. In a separate fixed recorded-video formal event test, 18 of 19 source-reviewed plush appearances eventually had verified alerts, or 94.7 percent observed on that source; the brief first appearance was missed. All 43 emitted positive crops showed plush, but include repeat firings. The negative clip produced 17 false events over 190.409 seconds, or 5.357 per minute, above the required fewer than .5 per minute. Sixteen false alerts targeted one cap and one targeted a partial shoe. The formal event test failed, and 19 appearances also fall short of the specified 20-push coverage. These event and box measurements do not establish general field performance. There is no IR or wild-rat validation, field deployment, or rat population estimate. Improve cap and shoe handling, then evaluate on new independent footage before any pilot.</a:t>
            </a:r>
          </a:p>
          <a:p xmlns:a="http://schemas.openxmlformats.org/drawingml/2006/main">
            <a:r>
              <a:t/>
            </a:r>
          </a:p>
          <a:p xmlns:a="http://schemas.openxmlformats.org/drawingml/2006/main">
            <a:r>
              <a:t>Source: vision/V5_FORMAL_EVENT_RESULTS.md; vision/V5_FRESH_RESULTS.md; pitch/evidence/v5-live-integration-result.json; pitch/evidence/v5-live-run-stats.json; vision/artifacts/rat-litroom-v5-development-candidate-20260927.zip; model/out/backtest.json; api/posterior.py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10493cb4d7942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5155c6aefb4005" /><Relationship Type="http://schemas.openxmlformats.org/officeDocument/2006/relationships/slideLayout" Target="/ppt/slideLayouts/slideLayout1.xml" Id="R35c5f3f34e0f48f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5c5f3f34e0f48f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3dc5e09786a4bfa" /><Relationship Type="http://schemas.openxmlformats.org/officeDocument/2006/relationships/notesSlide" Target="/ppt/notesSlides/notesSlide1.xml" Id="R5d2a221595054e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bf7dd365ed431d" /><Relationship Type="http://schemas.openxmlformats.org/officeDocument/2006/relationships/notesSlide" Target="/ppt/notesSlides/notesSlide2.xml" Id="R57a4547d4b73411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895cc04af7d4e3f" /><Relationship Type="http://schemas.openxmlformats.org/officeDocument/2006/relationships/chart" Target="/ppt/slides/charts/chart1.xml" Id="Rafbc36c1b5b44242" /><Relationship Type="http://schemas.openxmlformats.org/officeDocument/2006/relationships/notesSlide" Target="/ppt/notesSlides/notesSlide3.xml" Id="R4a6455abac0a49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e156f5e318b4c21" /><Relationship Type="http://schemas.openxmlformats.org/officeDocument/2006/relationships/image" Target="/ppt/media/image.jpeg" Id="R2a638552dc924627" /><Relationship Type="http://schemas.openxmlformats.org/officeDocument/2006/relationships/notesSlide" Target="/ppt/notesSlides/notesSlide4.xml" Id="R0d4b6cfe664544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84cfded476b4879" /><Relationship Type="http://schemas.openxmlformats.org/officeDocument/2006/relationships/notesSlide" Target="/ppt/notesSlides/notesSlide5.xml" Id="R042915c839ef482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959D63A-FD9C-424A-9C94-CE6B280BEA5C}"/>
              </a:ext>
            </a:extLst>
          </p:cNvPr>
          <p:cNvSpPr>
            <a:spLocks xmlns:a="http://schemas.openxmlformats.org/drawingml/2006/main" noGrp="1"/>
          </p:cNvSpPr>
          <p:nvPr/>
        </p:nvSpPr>
        <p:spPr>
          <a:xfrm xmlns:a="http://schemas.openxmlformats.org/drawingml/2006/main">
            <a:off x="762000" y="838200"/>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44265EBD-2948-4D78-AC10-9896BA5846B6}"/>
              </a:ext>
            </a:extLst>
          </p:cNvPr>
          <p:cNvSpPr>
            <a:spLocks xmlns:a="http://schemas.openxmlformats.org/drawingml/2006/main" noGrp="1"/>
          </p:cNvSpPr>
          <p:nvPr/>
        </p:nvSpPr>
        <p:spPr>
          <a:xfrm xmlns:a="http://schemas.openxmlformats.org/drawingml/2006/main">
            <a:off x="7620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A7E526B7-3833-43DA-AB8D-3DEA54DC423B}"/>
              </a:ext>
            </a:extLst>
          </p:cNvPr>
          <p:cNvSpPr>
            <a:spLocks xmlns:a="http://schemas.openxmlformats.org/drawingml/2006/main" noGrp="1"/>
          </p:cNvSpPr>
          <p:nvPr/>
        </p:nvSpPr>
        <p:spPr>
          <a:xfrm xmlns:a="http://schemas.openxmlformats.org/drawingml/2006/main">
            <a:off x="762000" y="3133725"/>
            <a:ext cx="1028700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A192B4-356C-4653-989F-1CF86C2C12F3}"/>
              </a:ext>
            </a:extLst>
          </p:cNvPr>
          <p:cNvSpPr>
            <a:spLocks xmlns:a="http://schemas.openxmlformats.org/drawingml/2006/main" noGrp="1"/>
          </p:cNvSpPr>
          <p:nvPr/>
        </p:nvSpPr>
        <p:spPr>
          <a:xfrm xmlns:a="http://schemas.openxmlformats.org/drawingml/2006/main">
            <a:off x="762000" y="3524250"/>
            <a:ext cx="9906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8CE7D8E4-3597-49CC-A360-DCCA156CC4C1}"/>
              </a:ext>
            </a:extLst>
          </p:cNvPr>
          <p:cNvSpPr>
            <a:spLocks xmlns:a="http://schemas.openxmlformats.org/drawingml/2006/main" noGrp="1"/>
          </p:cNvSpPr>
          <p:nvPr/>
        </p:nvSpPr>
        <p:spPr>
          <a:xfrm xmlns:a="http://schemas.openxmlformats.org/drawingml/2006/main">
            <a:off x="7620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933105325"/>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51E35383-2157-4C1A-B48E-31EE1725039B}"/>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F30DAFC0-6EDB-440B-ADE2-05DD03BC0EF0}"/>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2807DDA-9DAE-4E20-8925-0BD1168D6289}"/>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1CA849EB-3CA6-4E27-9BE3-6A72FA0259C5}"/>
              </a:ext>
            </a:extLst>
          </p:cNvPr>
          <p:cNvSpPr>
            <a:spLocks xmlns:a="http://schemas.openxmlformats.org/drawingml/2006/main" noGrp="1"/>
          </p:cNvSpPr>
          <p:nvPr/>
        </p:nvSpPr>
        <p:spPr>
          <a:xfrm xmlns:a="http://schemas.openxmlformats.org/drawingml/2006/main">
            <a:off x="762000" y="16668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C2A8B2E3-8163-4251-A384-504594870D29}"/>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D47D3182-5D39-4A8D-91FC-7C458807B842}"/>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D949160D-E104-49B5-8301-F651FAA1966E}"/>
              </a:ext>
            </a:extLst>
          </p:cNvPr>
          <p:cNvSpPr>
            <a:spLocks xmlns:a="http://schemas.openxmlformats.org/drawingml/2006/main" noGrp="1"/>
          </p:cNvSpPr>
          <p:nvPr/>
        </p:nvSpPr>
        <p:spPr>
          <a:xfrm xmlns:a="http://schemas.openxmlformats.org/drawingml/2006/main">
            <a:off x="762000" y="3152775"/>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F92DCEDA-1F82-4BEF-8E8E-9F0DE337B759}"/>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12F528ED-8095-418E-92F6-313B2882ECF8}"/>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FDABC0C1-C7CB-43BD-89E9-32A75876379A}"/>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10EF3B0-DBD2-4B0E-90CD-36A5030E2EC1}"/>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90D9707A-1165-442C-9F68-BE0189DA6DC3}"/>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CB10FD4F-2C44-4639-86C2-3B1749EE9B09}"/>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F12670E6-7ED8-4CAE-BF61-EBF39926072B}"/>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22775B04-1003-4E48-BA07-4A1F10E1E6E5}"/>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4D176A3C-B4AE-4BB6-8AB3-243F99D77AD0}"/>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8429F38A-B227-4C8B-9853-C5847724E777}"/>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602036326"/>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85144F-703F-4C4E-B9AE-9F9BCE319223}"/>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2B61A62C-D47B-4037-9900-578683DD04A4}"/>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3E39B23-0DFC-4DF4-B1C1-72E7E12EE9CB}"/>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AE5196C-E87F-41D5-89DE-CDBC922AF832}"/>
              </a:ext>
            </a:extLst>
          </p:cNvPr>
          <p:cNvSpPr>
            <a:spLocks xmlns:a="http://schemas.openxmlformats.org/drawingml/2006/main" noGrp="1"/>
          </p:cNvSpPr>
          <p:nvPr/>
        </p:nvSpPr>
        <p:spPr>
          <a:xfrm xmlns:a="http://schemas.openxmlformats.org/drawingml/2006/main">
            <a:off x="762000" y="1485900"/>
            <a:ext cx="35147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D33540A9-9DB9-4319-8442-AE866C8203C8}"/>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0420F3B0-1C00-4283-950F-19E364A47753}"/>
              </a:ext>
            </a:extLst>
          </p:cNvPr>
          <p:cNvSpPr>
            <a:spLocks xmlns:a="http://schemas.openxmlformats.org/drawingml/2006/main" noGrp="1"/>
          </p:cNvSpPr>
          <p:nvPr/>
        </p:nvSpPr>
        <p:spPr>
          <a:xfrm xmlns:a="http://schemas.openxmlformats.org/drawingml/2006/main">
            <a:off x="762000" y="25527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762000" y="3200400"/>
          <a:ext xmlns:a="http://schemas.openxmlformats.org/drawingml/2006/main" cx="10477500" cy="2390775"/>
        </p:xfrm>
        <a:graphic xmlns:a="http://schemas.openxmlformats.org/drawingml/2006/main">
          <a:graphicData uri="http://schemas.openxmlformats.org/drawingml/2006/chart">
            <c:chart xmlns:r="http://schemas.openxmlformats.org/officeDocument/2006/relationships" xmlns:c="http://schemas.openxmlformats.org/drawingml/2006/chart" r:id="Rafbc36c1b5b44242"/>
          </a:graphicData>
        </a:graphic>
      </p:graphicFrame>
      <p:sp>
        <p:nvSpPr>
          <p:cNvPr id="8" name="">
            <a:extLst xmlns:a="http://schemas.openxmlformats.org/drawingml/2006/main">
              <a:ext uri="{FF2B5EF4-FFF2-40B4-BE49-F238E27FC236}">
                <a16:creationId xmlns:a16="http://schemas.microsoft.com/office/drawing/2014/main" id="{927F095A-8B82-4778-9ED7-C626FCDA52B0}"/>
              </a:ext>
            </a:extLst>
          </p:cNvPr>
          <p:cNvSpPr>
            <a:spLocks xmlns:a="http://schemas.openxmlformats.org/drawingml/2006/main" noGrp="1"/>
          </p:cNvSpPr>
          <p:nvPr/>
        </p:nvSpPr>
        <p:spPr>
          <a:xfrm xmlns:a="http://schemas.openxmlformats.org/drawingml/2006/main">
            <a:off x="762000" y="56769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76699425"/>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F5D83CE-CE22-4DF2-B4FB-3DFCB50BE81F}"/>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A live Pi event reaches the map</a:t>
            </a:r>
          </a:p>
        </p:txBody>
      </p:sp>
      <p:sp>
        <p:nvSpPr>
          <p:cNvPr id="2" name="">
            <a:extLst xmlns:a="http://schemas.openxmlformats.org/drawingml/2006/main">
              <a:ext uri="{FF2B5EF4-FFF2-40B4-BE49-F238E27FC236}">
                <a16:creationId xmlns:a16="http://schemas.microsoft.com/office/drawing/2014/main" id="{1D63DD3E-13DE-4EA2-8587-0EC131033565}"/>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1443088-54CC-493F-AE3E-5EE294815B59}"/>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C3A4AF2B-3692-457B-A7C3-4F45EA053DFB}"/>
              </a:ext>
            </a:extLst>
          </p:cNvPr>
          <p:cNvSpPr>
            <a:spLocks xmlns:a="http://schemas.openxmlformats.org/drawingml/2006/main" noGrp="1"/>
          </p:cNvSpPr>
          <p:nvPr/>
        </p:nvSpPr>
        <p:spPr>
          <a:xfrm xmlns:a="http://schemas.openxmlformats.org/drawingml/2006/main">
            <a:off x="762000" y="15049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72D111B-9C75-43C1-BFEF-A11B99DEA7E0}"/>
              </a:ext>
            </a:extLst>
          </p:cNvPr>
          <p:cNvSpPr>
            <a:spLocks xmlns:a="http://schemas.openxmlformats.org/drawingml/2006/main" noGrp="1"/>
          </p:cNvSpPr>
          <p:nvPr/>
        </p:nvSpPr>
        <p:spPr>
          <a:xfrm xmlns:a="http://schemas.openxmlformats.org/drawingml/2006/main">
            <a:off x="1400175" y="15049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4A46A156-B5E3-46AC-A109-D5D881FD01F6}"/>
              </a:ext>
            </a:extLst>
          </p:cNvPr>
          <p:cNvSpPr>
            <a:spLocks xmlns:a="http://schemas.openxmlformats.org/drawingml/2006/main" noGrp="1"/>
          </p:cNvSpPr>
          <p:nvPr/>
        </p:nvSpPr>
        <p:spPr>
          <a:xfrm xmlns:a="http://schemas.openxmlformats.org/drawingml/2006/main">
            <a:off x="1400175" y="18573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Rank risk and the data gap</a:t>
            </a:r>
          </a:p>
        </p:txBody>
      </p:sp>
      <p:sp>
        <p:nvSpPr>
          <p:cNvPr id="7" name="">
            <a:extLst xmlns:a="http://schemas.openxmlformats.org/drawingml/2006/main">
              <a:ext uri="{FF2B5EF4-FFF2-40B4-BE49-F238E27FC236}">
                <a16:creationId xmlns:a16="http://schemas.microsoft.com/office/drawing/2014/main" id="{7F30E698-0276-4F29-8116-52023F1B919E}"/>
              </a:ext>
            </a:extLst>
          </p:cNvPr>
          <p:cNvSpPr>
            <a:spLocks xmlns:a="http://schemas.openxmlformats.org/drawingml/2006/main" noGrp="1"/>
          </p:cNvSpPr>
          <p:nvPr/>
        </p:nvSpPr>
        <p:spPr>
          <a:xfrm xmlns:a="http://schemas.openxmlformats.org/drawingml/2006/main">
            <a:off x="762000" y="23812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2FB570A2-5DB5-445C-ADF0-F205118021EF}"/>
              </a:ext>
            </a:extLst>
          </p:cNvPr>
          <p:cNvSpPr>
            <a:spLocks xmlns:a="http://schemas.openxmlformats.org/drawingml/2006/main" noGrp="1"/>
          </p:cNvSpPr>
          <p:nvPr/>
        </p:nvSpPr>
        <p:spPr>
          <a:xfrm xmlns:a="http://schemas.openxmlformats.org/drawingml/2006/main">
            <a:off x="1400175" y="23812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Capture</a:t>
            </a:r>
          </a:p>
        </p:txBody>
      </p:sp>
      <p:sp>
        <p:nvSpPr>
          <p:cNvPr id="9" name="">
            <a:extLst xmlns:a="http://schemas.openxmlformats.org/drawingml/2006/main">
              <a:ext uri="{FF2B5EF4-FFF2-40B4-BE49-F238E27FC236}">
                <a16:creationId xmlns:a16="http://schemas.microsoft.com/office/drawing/2014/main" id="{3434864D-7F5D-494C-BC66-8946831326C3}"/>
              </a:ext>
            </a:extLst>
          </p:cNvPr>
          <p:cNvSpPr>
            <a:spLocks xmlns:a="http://schemas.openxmlformats.org/drawingml/2006/main" noGrp="1"/>
          </p:cNvSpPr>
          <p:nvPr/>
        </p:nvSpPr>
        <p:spPr>
          <a:xfrm xmlns:a="http://schemas.openxmlformats.org/drawingml/2006/main">
            <a:off x="1400175" y="27336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Pi 5 camera watches the room-lit prop</a:t>
            </a:r>
          </a:p>
        </p:txBody>
      </p:sp>
      <p:sp>
        <p:nvSpPr>
          <p:cNvPr id="10" name="">
            <a:extLst xmlns:a="http://schemas.openxmlformats.org/drawingml/2006/main">
              <a:ext uri="{FF2B5EF4-FFF2-40B4-BE49-F238E27FC236}">
                <a16:creationId xmlns:a16="http://schemas.microsoft.com/office/drawing/2014/main" id="{DAA9A519-E7C2-41F7-B190-7236E451F9EE}"/>
              </a:ext>
            </a:extLst>
          </p:cNvPr>
          <p:cNvSpPr>
            <a:spLocks xmlns:a="http://schemas.openxmlformats.org/drawingml/2006/main" noGrp="1"/>
          </p:cNvSpPr>
          <p:nvPr/>
        </p:nvSpPr>
        <p:spPr>
          <a:xfrm xmlns:a="http://schemas.openxmlformats.org/drawingml/2006/main">
            <a:off x="762000" y="32575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361ABBC6-1B6D-43BB-B85C-93F0A99B38B9}"/>
              </a:ext>
            </a:extLst>
          </p:cNvPr>
          <p:cNvSpPr>
            <a:spLocks xmlns:a="http://schemas.openxmlformats.org/drawingml/2006/main" noGrp="1"/>
          </p:cNvSpPr>
          <p:nvPr/>
        </p:nvSpPr>
        <p:spPr>
          <a:xfrm xmlns:a="http://schemas.openxmlformats.org/drawingml/2006/main">
            <a:off x="1400175" y="32575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Detect</a:t>
            </a:r>
          </a:p>
        </p:txBody>
      </p:sp>
      <p:sp>
        <p:nvSpPr>
          <p:cNvPr id="12" name="">
            <a:extLst xmlns:a="http://schemas.openxmlformats.org/drawingml/2006/main">
              <a:ext uri="{FF2B5EF4-FFF2-40B4-BE49-F238E27FC236}">
                <a16:creationId xmlns:a16="http://schemas.microsoft.com/office/drawing/2014/main" id="{33FA18D8-B192-48E1-93A6-E15CA98B6691}"/>
              </a:ext>
            </a:extLst>
          </p:cNvPr>
          <p:cNvSpPr>
            <a:spLocks xmlns:a="http://schemas.openxmlformats.org/drawingml/2006/main" noGrp="1"/>
          </p:cNvSpPr>
          <p:nvPr/>
        </p:nvSpPr>
        <p:spPr>
          <a:xfrm xmlns:a="http://schemas.openxmlformats.org/drawingml/2006/main">
            <a:off x="1400175" y="36099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V5 processed 1,346 live frames in 90 s</a:t>
            </a:r>
          </a:p>
        </p:txBody>
      </p:sp>
      <p:sp>
        <p:nvSpPr>
          <p:cNvPr id="13" name="">
            <a:extLst xmlns:a="http://schemas.openxmlformats.org/drawingml/2006/main">
              <a:ext uri="{FF2B5EF4-FFF2-40B4-BE49-F238E27FC236}">
                <a16:creationId xmlns:a16="http://schemas.microsoft.com/office/drawing/2014/main" id="{ACD7B84D-B6D3-4991-A02F-3C7A26AF153D}"/>
              </a:ext>
            </a:extLst>
          </p:cNvPr>
          <p:cNvSpPr>
            <a:spLocks xmlns:a="http://schemas.openxmlformats.org/drawingml/2006/main" noGrp="1"/>
          </p:cNvSpPr>
          <p:nvPr/>
        </p:nvSpPr>
        <p:spPr>
          <a:xfrm xmlns:a="http://schemas.openxmlformats.org/drawingml/2006/main">
            <a:off x="762000" y="4133850"/>
            <a:ext cx="4953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087E83"/>
                </a:solidFill>
                <a:latin typeface="Helvetica Neue"/>
                <a:ea typeface="Helvetica Neue"/>
                <a:cs typeface="Helvetica Neue"/>
              </a:defRPr>
            </a:pPr>
            <a:r>
              <a:rPr sz="322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3AEA1C04-7ABB-4570-A072-3BC78C8EB6D1}"/>
              </a:ext>
            </a:extLst>
          </p:cNvPr>
          <p:cNvSpPr>
            <a:spLocks xmlns:a="http://schemas.openxmlformats.org/drawingml/2006/main" noGrp="1"/>
          </p:cNvSpPr>
          <p:nvPr/>
        </p:nvSpPr>
        <p:spPr>
          <a:xfrm xmlns:a="http://schemas.openxmlformats.org/drawingml/2006/main">
            <a:off x="1400175" y="4133850"/>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02635"/>
                </a:solidFill>
                <a:latin typeface="Helvetica Neue"/>
                <a:ea typeface="Helvetica Neue"/>
                <a:cs typeface="Helvetica Neue"/>
              </a:defRPr>
            </a:pPr>
            <a:r>
              <a:rPr sz="2100" b="1">
                <a:solidFill>
                  <a:srgbClr val="102635"/>
                </a:solidFill>
                <a:latin typeface="Helvetica Neue"/>
                <a:ea typeface="Helvetica Neue"/>
                <a:cs typeface="Helvetica Neue"/>
              </a:rPr>
              <a:t>Update the map</a:t>
            </a:r>
          </a:p>
        </p:txBody>
      </p:sp>
      <p:sp>
        <p:nvSpPr>
          <p:cNvPr id="15" name="">
            <a:extLst xmlns:a="http://schemas.openxmlformats.org/drawingml/2006/main">
              <a:ext uri="{FF2B5EF4-FFF2-40B4-BE49-F238E27FC236}">
                <a16:creationId xmlns:a16="http://schemas.microsoft.com/office/drawing/2014/main" id="{396E10A2-6674-4A99-9CAB-78EB4CB60BD6}"/>
              </a:ext>
            </a:extLst>
          </p:cNvPr>
          <p:cNvSpPr>
            <a:spLocks xmlns:a="http://schemas.openxmlformats.org/drawingml/2006/main" noGrp="1"/>
          </p:cNvSpPr>
          <p:nvPr/>
        </p:nvSpPr>
        <p:spPr>
          <a:xfrm xmlns:a="http://schemas.openxmlformats.org/drawingml/2006/main">
            <a:off x="1400175" y="4486275"/>
            <a:ext cx="4524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18313D"/>
                </a:solidFill>
                <a:latin typeface="Helvetica Neue"/>
                <a:ea typeface="Helvetica Neue"/>
                <a:cs typeface="Helvetica Neue"/>
              </a:defRPr>
            </a:pPr>
            <a:r>
              <a:rPr sz="1650" b="0">
                <a:solidFill>
                  <a:srgbClr val="18313D"/>
                </a:solidFill>
                <a:latin typeface="Helvetica Neue"/>
                <a:ea typeface="Helvetica Neue"/>
                <a:cs typeface="Helvetica Neue"/>
              </a:rPr>
              <a:t>One genuine event reached the local API</a:t>
            </a:r>
          </a:p>
        </p:txBody>
      </p:sp>
      <p:sp>
        <p:nvSpPr>
          <p:cNvPr id="16" name="">
            <a:extLst xmlns:a="http://schemas.openxmlformats.org/drawingml/2006/main">
              <a:ext uri="{FF2B5EF4-FFF2-40B4-BE49-F238E27FC236}">
                <a16:creationId xmlns:a16="http://schemas.microsoft.com/office/drawing/2014/main" id="{7BDD1E88-E65C-4D77-81D6-5BFB31399CCE}"/>
              </a:ext>
            </a:extLst>
          </p:cNvPr>
          <p:cNvSpPr>
            <a:spLocks xmlns:a="http://schemas.openxmlformats.org/drawingml/2006/main" noGrp="1"/>
          </p:cNvSpPr>
          <p:nvPr/>
        </p:nvSpPr>
        <p:spPr>
          <a:xfrm xmlns:a="http://schemas.openxmlformats.org/drawingml/2006/main">
            <a:off x="6143625" y="1666875"/>
            <a:ext cx="19050" cy="3276600"/>
          </a:xfrm>
          <a:prstGeom xmlns:a="http://schemas.openxmlformats.org/drawingml/2006/main" prst="rect">
            <a:avLst/>
          </a:prstGeom>
          <a:solidFill xmlns:a="http://schemas.openxmlformats.org/drawingml/2006/main">
            <a:srgbClr val="E6ECE8"/>
          </a:solidFill>
          <a:ln xmlns:a="http://schemas.openxmlformats.org/drawingml/2006/main" w="0">
            <a:noFill/>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2a638552dc924627"/>
          <a:stretch xmlns:a="http://schemas.openxmlformats.org/drawingml/2006/main"/>
        </p:blipFill>
        <p:spPr>
          <a:xfrm xmlns:a="http://schemas.openxmlformats.org/drawingml/2006/main">
            <a:off x="6432021" y="1733550"/>
            <a:ext cx="4995333" cy="280987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359C95C-A44B-4378-8539-D4F7E0E5F8A7}"/>
              </a:ext>
            </a:extLst>
          </p:cNvPr>
          <p:cNvSpPr>
            <a:spLocks xmlns:a="http://schemas.openxmlformats.org/drawingml/2006/main" noGrp="1"/>
          </p:cNvSpPr>
          <p:nvPr/>
        </p:nvSpPr>
        <p:spPr>
          <a:xfrm xmlns:a="http://schemas.openxmlformats.org/drawingml/2006/main">
            <a:off x="6429375" y="4600575"/>
            <a:ext cx="5000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52656B"/>
                </a:solidFill>
                <a:latin typeface="Helvetica Neue"/>
                <a:ea typeface="Helvetica Neue"/>
                <a:cs typeface="Helvetica Neue"/>
              </a:defRPr>
            </a:pPr>
            <a:r>
              <a:rPr sz="1350" b="0">
                <a:solidFill>
                  <a:srgbClr val="52656B"/>
                </a:solidFill>
                <a:latin typeface="Helvetica Neue"/>
                <a:ea typeface="Helvetica Neue"/>
                <a:cs typeface="Helvetica Neue"/>
              </a:rPr>
              <a:t>Live map · two sightings · site rank 1</a:t>
            </a:r>
          </a:p>
        </p:txBody>
      </p:sp>
      <p:sp>
        <p:nvSpPr>
          <p:cNvPr id="19" name="">
            <a:extLst xmlns:a="http://schemas.openxmlformats.org/drawingml/2006/main">
              <a:ext uri="{FF2B5EF4-FFF2-40B4-BE49-F238E27FC236}">
                <a16:creationId xmlns:a16="http://schemas.microsoft.com/office/drawing/2014/main" id="{D6C77D9D-FF57-48FC-BAFE-6744B5089B40}"/>
              </a:ext>
            </a:extLst>
          </p:cNvPr>
          <p:cNvSpPr>
            <a:spLocks xmlns:a="http://schemas.openxmlformats.org/drawingml/2006/main" noGrp="1"/>
          </p:cNvSpPr>
          <p:nvPr/>
        </p:nvSpPr>
        <p:spPr>
          <a:xfrm xmlns:a="http://schemas.openxmlformats.org/drawingml/2006/main">
            <a:off x="762000" y="534352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7A621687-DACD-4849-81D7-F3A09A1EE054}"/>
              </a:ext>
            </a:extLst>
          </p:cNvPr>
          <p:cNvSpPr>
            <a:spLocks xmlns:a="http://schemas.openxmlformats.org/drawingml/2006/main" noGrp="1"/>
          </p:cNvSpPr>
          <p:nvPr/>
        </p:nvSpPr>
        <p:spPr>
          <a:xfrm xmlns:a="http://schemas.openxmlformats.org/drawingml/2006/main">
            <a:off x="762000" y="5514975"/>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Live loop</a:t>
            </a:r>
          </a:p>
        </p:txBody>
      </p:sp>
      <p:sp>
        <p:nvSpPr>
          <p:cNvPr id="21" name="">
            <a:extLst xmlns:a="http://schemas.openxmlformats.org/drawingml/2006/main">
              <a:ext uri="{FF2B5EF4-FFF2-40B4-BE49-F238E27FC236}">
                <a16:creationId xmlns:a16="http://schemas.microsoft.com/office/drawing/2014/main" id="{7C3B38D9-E482-4DC3-9055-8080682D1FB8}"/>
              </a:ext>
            </a:extLst>
          </p:cNvPr>
          <p:cNvSpPr>
            <a:spLocks xmlns:a="http://schemas.openxmlformats.org/drawingml/2006/main" noGrp="1"/>
          </p:cNvSpPr>
          <p:nvPr/>
        </p:nvSpPr>
        <p:spPr>
          <a:xfrm xmlns:a="http://schemas.openxmlformats.org/drawingml/2006/main">
            <a:off x="2571750" y="5495925"/>
            <a:ext cx="866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1 event · score 13.0% → 16.2% · rank 2 → 1</a:t>
            </a:r>
          </a:p>
        </p:txBody>
      </p:sp>
    </p:spTree>
    <p:extLst>
      <p:ext uri="{BB962C8B-B14F-4D97-AF65-F5344CB8AC3E}">
        <p14:creationId xmlns:p14="http://schemas.microsoft.com/office/powerpoint/2010/main" val="905137700"/>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8146687-E9A0-40CA-82CB-EED56A22A4A3}"/>
              </a:ext>
            </a:extLst>
          </p:cNvPr>
          <p:cNvSpPr>
            <a:spLocks xmlns:a="http://schemas.openxmlformats.org/drawingml/2006/main" noGrp="1"/>
          </p:cNvSpPr>
          <p:nvPr/>
        </p:nvSpPr>
        <p:spPr>
          <a:xfrm xmlns:a="http://schemas.openxmlformats.org/drawingml/2006/main">
            <a:off x="762000" y="4000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02635"/>
                </a:solidFill>
                <a:latin typeface="Helvetica Neue"/>
                <a:ea typeface="Helvetica Neue"/>
                <a:cs typeface="Helvetica Neue"/>
              </a:defRPr>
            </a:pPr>
            <a:r>
              <a:rPr sz="300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063CD87F-9DE8-4B40-9DC9-C9B631ACEF3B}"/>
              </a:ext>
            </a:extLst>
          </p:cNvPr>
          <p:cNvSpPr>
            <a:spLocks xmlns:a="http://schemas.openxmlformats.org/drawingml/2006/main" noGrp="1"/>
          </p:cNvSpPr>
          <p:nvPr/>
        </p:nvSpPr>
        <p:spPr>
          <a:xfrm xmlns:a="http://schemas.openxmlformats.org/drawingml/2006/main">
            <a:off x="762000" y="1171575"/>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989F6A1-3CF7-46BA-BF69-5D46C699A7F9}"/>
              </a:ext>
            </a:extLst>
          </p:cNvPr>
          <p:cNvSpPr>
            <a:spLocks xmlns:a="http://schemas.openxmlformats.org/drawingml/2006/main" noGrp="1"/>
          </p:cNvSpPr>
          <p:nvPr/>
        </p:nvSpPr>
        <p:spPr>
          <a:xfrm xmlns:a="http://schemas.openxmlformats.org/drawingml/2006/main">
            <a:off x="10953750" y="6286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18FBB798-8D8F-40B6-BA85-EC0D85EA01D4}"/>
              </a:ext>
            </a:extLst>
          </p:cNvPr>
          <p:cNvSpPr>
            <a:spLocks xmlns:a="http://schemas.openxmlformats.org/drawingml/2006/main" noGrp="1"/>
          </p:cNvSpPr>
          <p:nvPr/>
        </p:nvSpPr>
        <p:spPr>
          <a:xfrm xmlns:a="http://schemas.openxmlformats.org/drawingml/2006/main">
            <a:off x="76200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B4803EE3-CA08-4B89-93FF-818EB3BA42F8}"/>
              </a:ext>
            </a:extLst>
          </p:cNvPr>
          <p:cNvSpPr>
            <a:spLocks xmlns:a="http://schemas.openxmlformats.org/drawingml/2006/main" noGrp="1"/>
          </p:cNvSpPr>
          <p:nvPr/>
        </p:nvSpPr>
        <p:spPr>
          <a:xfrm xmlns:a="http://schemas.openxmlformats.org/drawingml/2006/main">
            <a:off x="762000" y="2305050"/>
            <a:ext cx="504825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NYC data and sweep outcomes</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Cell models and a 119-month backtest</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Pi camera and PIR at the hackathon</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Live plush event reached the map</a:t>
            </a:r>
          </a:p>
        </p:txBody>
      </p:sp>
      <p:sp>
        <p:nvSpPr>
          <p:cNvPr id="6" name="">
            <a:extLst xmlns:a="http://schemas.openxmlformats.org/drawingml/2006/main">
              <a:ext uri="{FF2B5EF4-FFF2-40B4-BE49-F238E27FC236}">
                <a16:creationId xmlns:a16="http://schemas.microsoft.com/office/drawing/2014/main" id="{C52E9975-2DDE-4A23-A4D2-F4B42706BC16}"/>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FFB018-E728-4484-9E92-D386243E10C3}"/>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A56B7EEC-F67F-46EB-AFD0-1D0D3E533818}"/>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Fresh V5 box target not established</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Formal replay: 17 false alerts / 190 s</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Cap and shoe caused those alerts</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Room-lit prop; no field deployment</a:t>
            </a:r>
          </a:p>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No IR or wild-rat validation</a:t>
            </a:r>
          </a:p>
        </p:txBody>
      </p:sp>
      <p:sp>
        <p:nvSpPr>
          <p:cNvPr id="9" name="">
            <a:extLst xmlns:a="http://schemas.openxmlformats.org/drawingml/2006/main">
              <a:ext uri="{FF2B5EF4-FFF2-40B4-BE49-F238E27FC236}">
                <a16:creationId xmlns:a16="http://schemas.microsoft.com/office/drawing/2014/main" id="{A64CF6C4-8790-4D63-9744-3092D69FC13E}"/>
              </a:ext>
            </a:extLst>
          </p:cNvPr>
          <p:cNvSpPr>
            <a:spLocks xmlns:a="http://schemas.openxmlformats.org/drawingml/2006/main" noGrp="1"/>
          </p:cNvSpPr>
          <p:nvPr/>
        </p:nvSpPr>
        <p:spPr>
          <a:xfrm xmlns:a="http://schemas.openxmlformats.org/drawingml/2006/main">
            <a:off x="762000" y="5057775"/>
            <a:ext cx="104775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DA6454-9E4B-4AD4-877E-CA16C66197AD}"/>
              </a:ext>
            </a:extLst>
          </p:cNvPr>
          <p:cNvSpPr>
            <a:spLocks xmlns:a="http://schemas.openxmlformats.org/drawingml/2006/main" noGrp="1"/>
          </p:cNvSpPr>
          <p:nvPr/>
        </p:nvSpPr>
        <p:spPr>
          <a:xfrm xmlns:a="http://schemas.openxmlformats.org/drawingml/2006/main">
            <a:off x="762000" y="5314950"/>
            <a:ext cx="16478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a:t>
            </a:r>
          </a:p>
        </p:txBody>
      </p:sp>
      <p:sp>
        <p:nvSpPr>
          <p:cNvPr id="11" name="">
            <a:extLst xmlns:a="http://schemas.openxmlformats.org/drawingml/2006/main">
              <a:ext uri="{FF2B5EF4-FFF2-40B4-BE49-F238E27FC236}">
                <a16:creationId xmlns:a16="http://schemas.microsoft.com/office/drawing/2014/main" id="{C4894465-61FC-4481-9941-54E5B87E45E4}"/>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02635"/>
                </a:solidFill>
                <a:latin typeface="Helvetica Neue"/>
                <a:ea typeface="Helvetica Neue"/>
                <a:cs typeface="Helvetica Neue"/>
              </a:defRPr>
            </a:pPr>
            <a:r>
              <a:rPr sz="2175" b="0">
                <a:solidFill>
                  <a:srgbClr val="102635"/>
                </a:solidFill>
                <a:latin typeface="Helvetica Neue"/>
                <a:ea typeface="Helvetica Neue"/>
                <a:cs typeface="Helvetica Neue"/>
              </a:rPr>
              <a:t>Improve cap and shoe handling, then test on new footage.</a:t>
            </a:r>
          </a:p>
        </p:txBody>
      </p:sp>
    </p:spTree>
    <p:extLst>
      <p:ext uri="{BB962C8B-B14F-4D97-AF65-F5344CB8AC3E}">
        <p14:creationId xmlns:p14="http://schemas.microsoft.com/office/powerpoint/2010/main" val="6869809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2026-09-27T05:05:22.5450000Z</dcterms:created>
  <dcterms:modified xsi:type="dcterms:W3CDTF">2026-09-27T05:05:22.5450000Z</dcterms:modified>
</coreProperties>
</file>