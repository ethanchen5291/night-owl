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87db964ee94be5" /><Relationship Type="http://schemas.openxmlformats.org/officeDocument/2006/relationships/extended-properties" Target="/docProps/app.xml" Id="R5fbcef68667b4e7b" /><Relationship Type="http://schemas.openxmlformats.org/officeDocument/2006/relationships/officeDocument" Target="/ppt/presentation.xml" Id="R6c29dfa3bf984629" /></Relationships>
</file>

<file path=ppt/presentation.xml><?xml version="1.0" encoding="utf-8"?>
<p:presentation xmlns:p="http://schemas.openxmlformats.org/presentationml/2006/main">
  <p:sldMasterIdLst>
    <p:sldMasterId xmlns:r="http://schemas.openxmlformats.org/officeDocument/2006/relationships" id="2147483648" r:id="Rc7f16017d7154c48"/>
  </p:sldMasterIdLst>
  <p:notesMasterIdLst>
    <p:notesMasterId xmlns:r="http://schemas.openxmlformats.org/officeDocument/2006/relationships" r:id="R0b43ea7cf0c04578"/>
  </p:notesMasterIdLst>
  <p:sldIdLst>
    <p:sldId xmlns:r="http://schemas.openxmlformats.org/officeDocument/2006/relationships" id="256" r:id="R7e3f853743c3440c"/>
    <p:sldId xmlns:r="http://schemas.openxmlformats.org/officeDocument/2006/relationships" id="257" r:id="Rd875e33f7c4a4bbc"/>
    <p:sldId xmlns:r="http://schemas.openxmlformats.org/officeDocument/2006/relationships" id="258" r:id="R0ad2d4eb8f9b4681"/>
    <p:sldId xmlns:r="http://schemas.openxmlformats.org/officeDocument/2006/relationships" id="259" r:id="R71c7bd5758274671"/>
    <p:sldId xmlns:r="http://schemas.openxmlformats.org/officeDocument/2006/relationships" id="260" r:id="Rd0797f3268124e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5fd4073c994b8a" /><Relationship Type="http://schemas.openxmlformats.org/officeDocument/2006/relationships/slideMaster" Target="/ppt/slideMasters/slideMaster1.xml" Id="Rc7f16017d7154c48" /><Relationship Type="http://schemas.openxmlformats.org/officeDocument/2006/relationships/notesMaster" Target="/ppt/notesMasters/notesMaster1.xml" Id="R0b43ea7cf0c04578" /><Relationship Type="http://schemas.openxmlformats.org/officeDocument/2006/relationships/presProps" Target="/ppt/presProps.xml" Id="R4f1bf9d38cc144b5" /><Relationship Type="http://schemas.openxmlformats.org/officeDocument/2006/relationships/tableStyles" Target="/ppt/tableStyles.xml" Id="R2ab0cf42b87343a4" /><Relationship Type="http://schemas.openxmlformats.org/officeDocument/2006/relationships/slide" Target="/ppt/slides/slide1.xml" Id="R7e3f853743c3440c" /><Relationship Type="http://schemas.openxmlformats.org/officeDocument/2006/relationships/slide" Target="/ppt/slides/slide2.xml" Id="Rd875e33f7c4a4bbc" /><Relationship Type="http://schemas.openxmlformats.org/officeDocument/2006/relationships/slide" Target="/ppt/slides/slide3.xml" Id="R0ad2d4eb8f9b4681" /><Relationship Type="http://schemas.openxmlformats.org/officeDocument/2006/relationships/slide" Target="/ppt/slides/slide4.xml" Id="R71c7bd5758274671" /><Relationship Type="http://schemas.openxmlformats.org/officeDocument/2006/relationships/slide" Target="/ppt/slides/slide5.xml" Id="Rd0797f3268124e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d9fc17910844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912153a6fc4504" /><Relationship Type="http://schemas.openxmlformats.org/officeDocument/2006/relationships/notesMaster" Target="/ppt/notesMasters/notesMaster1.xml" Id="R0e12a165357a40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d0591f8d54292" /><Relationship Type="http://schemas.openxmlformats.org/officeDocument/2006/relationships/notesMaster" Target="/ppt/notesMasters/notesMaster1.xml" Id="Rf5514673a7d44e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82f4cfdccc4ed3" /><Relationship Type="http://schemas.openxmlformats.org/officeDocument/2006/relationships/notesMaster" Target="/ppt/notesMasters/notesMaster1.xml" Id="Re537be010cc347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0214423c784efb" /><Relationship Type="http://schemas.openxmlformats.org/officeDocument/2006/relationships/notesMaster" Target="/ppt/notesMasters/notesMaster1.xml" Id="R061f7b31e82e48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6c8cf04960465d" /><Relationship Type="http://schemas.openxmlformats.org/officeDocument/2006/relationships/notesMaster" Target="/ppt/notesMasters/notesMaster1.xml" Id="R49cc54da0f3c4f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The table prop is room-lit. In an earlier local Mac replay using the V2 detector, original camera footage from zoom15_b at 59–63 seconds passed through the exported ONNX model, the Pi Detector class and its three-hit rules, crop generation, and the local API. Exactly one event at confidence 0.860 was accepted. The served cell score moved from 0.0923 to 0.1297; the plan candidate moved from rank 11 to 2. The frontend screenshot showed the crop, one sighting, and rank 2. V5 has separate detector development results but has not been verified through the same API path. The earlier software loop used saved video on a Mac. V5 also ran on a saved frame on the physical Pi; positive live-camera detection remains unverified. PIR only wakes capture; the detector decides. Team-reported IR capture does not validate the model under IR. An accepted event updates a chosen Beta prior and can rerank candidates; it does not retrain Model B. If demonstrating from recorded footage on stage, name it as recorded. A physical Pi trigger can be shown only if it works in a fresh test.</a:t>
            </a:r>
          </a:p>
          <a:p xmlns:a="http://schemas.openxmlformats.org/drawingml/2006/main">
            <a:r>
              <a:t/>
            </a:r>
          </a:p>
          <a:p xmlns:a="http://schemas.openxmlformats.org/drawingml/2006/main">
            <a:r>
              <a:t>Source: vision/replay_video.py; vision/RUNBOOK.md; vision/TRAINING_RESULTS.md; model/out/plan.json; api/posterior.py; team local replay and frontend screenshot 2026-09-26; team physical-rig photo IMG_1788.jpeg 2026-09-26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the prop footage is room-lit. The prior V4 model scored rat AP50 .925806 on 59 previously unused adjacent frames from the same camera session, then .882675 on 439 reviewed frames in a newly recorded room, below the .90 box target. Its recorded replay missed a parked plush and fired once on a dark case. We trained V5 using those prior new-room clips as development data. The locked V5 checkpoint reached .960806 rat AP50 on its weakest selected development clip and .975279 combined rat AP50 across 146 development frames, with exact matched-shape PyTorch/ONNX AP parity. These are tuned development scores; the independent fresh V5 test is pending. At fixed runtime confidence .70, saved V5 development replays showed repeated plush event firings: 14 on the moving clip, 64 parked, 64 old metal and 44 old floor, with zero events over a 181.21-second negative clip. These are not timed push trials or event recall. The V5 ONNX ran on a saved plush frame on the physical Pi at 60.23 milliseconds median, confidence .931. A separate earlier Mac replay using V2 footage carried one accepted event through detector rules and local API to the visible map. A later Pi live-camera trial had no plush target; positive live-camera detection is pending. The formal 20-push event gate is unmeasured. AP50 is a box detection measure, not accuracy or rat population prevalence. No IR or wild-rat detector test and no field deployment have been done. The event posterior uses a chosen prior and can change candidate order; it does not retrain Model B. A supervised 50-node pilot would need later proactive sweeps and false-event checks.</a:t>
            </a:r>
          </a:p>
          <a:p xmlns:a="http://schemas.openxmlformats.org/drawingml/2006/main">
            <a:r>
              <a:t/>
            </a:r>
          </a:p>
          <a:p xmlns:a="http://schemas.openxmlformats.org/drawingml/2006/main">
            <a:r>
              <a:t>Source: vision/artifacts/rat-litroom-v5-development-candidate-20260927.zip: reports/metrics.json, reports/candidate_lock.json, reports/dev_replay, reports/pi_saved_frame_smoke.json; vision/artifacts/rat-litroom-v4-new-room-evaluation-20260927.zip; model/out/backtest.json;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be91a9197443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aec51906104243" /><Relationship Type="http://schemas.openxmlformats.org/officeDocument/2006/relationships/slideLayout" Target="/ppt/slideLayouts/slideLayout1.xml" Id="R436e141b8e8144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6e141b8e8144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8af9ba83ee4a62" /><Relationship Type="http://schemas.openxmlformats.org/officeDocument/2006/relationships/notesSlide" Target="/ppt/notesSlides/notesSlide1.xml" Id="Rcdb61c821d964b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43144433c4159" /><Relationship Type="http://schemas.openxmlformats.org/officeDocument/2006/relationships/notesSlide" Target="/ppt/notesSlides/notesSlide2.xml" Id="Ra831b694f2ad4c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fc9013ca174760" /><Relationship Type="http://schemas.openxmlformats.org/officeDocument/2006/relationships/chart" Target="/ppt/slides/charts/chart1.xml" Id="R0165650d09b2417e" /><Relationship Type="http://schemas.openxmlformats.org/officeDocument/2006/relationships/notesSlide" Target="/ppt/notesSlides/notesSlide3.xml" Id="R4121944853af41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95765501a0452e" /><Relationship Type="http://schemas.openxmlformats.org/officeDocument/2006/relationships/image" Target="/ppt/media/image.jpeg" Id="R9d50e862fe014fc0" /><Relationship Type="http://schemas.openxmlformats.org/officeDocument/2006/relationships/notesSlide" Target="/ppt/notesSlides/notesSlide4.xml" Id="R5c60d59beaf747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713d77f8ed4269" /><Relationship Type="http://schemas.openxmlformats.org/officeDocument/2006/relationships/notesSlide" Target="/ppt/notesSlides/notesSlide5.xml" Id="R26f4530b3d5249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77AC84-2A76-40B8-B6F1-0AA22F7972D0}"/>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C14A644F-23E4-4148-BA96-D00684562F74}"/>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ABF19212-38E8-4290-AFB5-B47D829C7E24}"/>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7F7755-F5CF-4902-B7DF-6913F9CD92D4}"/>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4F16C9BD-E2D9-43E4-956F-0D340179C96E}"/>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1283002218"/>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996A2D6-60FB-4077-B8D2-C8C184B22F52}"/>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2B134AD7-33DC-4A0D-B2DD-D6DB8BB3135F}"/>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1716EE-831B-4376-9CFB-589B13A60DC2}"/>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2BEF409E-EDF0-40F3-A095-EB325B28ECE5}"/>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0A222008-E266-4CFF-8432-82DF54DE5D7D}"/>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800C169A-B180-420D-97FC-B064147F565B}"/>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25846AC4-E05F-4AAE-886E-9C286B709DFB}"/>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123AA6CD-FA73-4BAF-893C-2A95958517E7}"/>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73197637-C545-4DB7-A2B0-6B5CA0C0366B}"/>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BB41BEF4-DE5D-49CF-919F-30ED9141C163}"/>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E319F91-1CC2-462E-8D06-4935748F654E}"/>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B8727F4F-54BA-4404-BE18-54A6672EBFFA}"/>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5815B30A-535E-4C05-A654-452A6B36D5D8}"/>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A7BB92FF-E8A3-4F7A-A739-B8898BD2997B}"/>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6EEAF20C-9B64-44B7-A72E-7A09EDEDDBF0}"/>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E1039AFD-52B1-4B08-B703-477449ABB947}"/>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9CF96AD4-87E9-4FF6-9DBB-8E7111A7BE80}"/>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1644087554"/>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922D25-C586-4B34-9F23-24B9C3BB9130}"/>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DB4A60D4-41A7-4655-A641-2B14408E5AC2}"/>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1F200E-A62E-4A16-9919-C25DC9FA9158}"/>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40D1A2C2-DE4B-40F2-81A3-9FDB8F8FE0FB}"/>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1C33DE03-AC5D-4967-9E84-AC007E1861B5}"/>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61E8B564-BCEF-4A92-8AB8-D7D759F3A4AE}"/>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0165650d09b2417e"/>
          </a:graphicData>
        </a:graphic>
      </p:graphicFrame>
      <p:sp>
        <p:nvSpPr>
          <p:cNvPr id="8" name="">
            <a:extLst xmlns:a="http://schemas.openxmlformats.org/drawingml/2006/main">
              <a:ext uri="{FF2B5EF4-FFF2-40B4-BE49-F238E27FC236}">
                <a16:creationId xmlns:a16="http://schemas.microsoft.com/office/drawing/2014/main" id="{9C532520-7308-4803-83F9-7EA705D0F1CB}"/>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1002639148"/>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2E648B-EA18-4B8E-89A1-61118B12DC41}"/>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Recorded footage reaches the map</a:t>
            </a:r>
          </a:p>
        </p:txBody>
      </p:sp>
      <p:sp>
        <p:nvSpPr>
          <p:cNvPr id="2" name="">
            <a:extLst xmlns:a="http://schemas.openxmlformats.org/drawingml/2006/main">
              <a:ext uri="{FF2B5EF4-FFF2-40B4-BE49-F238E27FC236}">
                <a16:creationId xmlns:a16="http://schemas.microsoft.com/office/drawing/2014/main" id="{7E224902-6220-4DDF-9280-64C46D45BED1}"/>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94A8BC-E582-47A8-BCD2-3644955DD114}"/>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79E10416-0FD3-4C4D-A951-4D50F67A4B19}"/>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ACDAEF2-746F-48EB-8A21-A3F52E2FE87E}"/>
              </a:ext>
            </a:extLst>
          </p:cNvPr>
          <p:cNvSpPr>
            <a:spLocks xmlns:a="http://schemas.openxmlformats.org/drawingml/2006/main" noGrp="1"/>
          </p:cNvSpPr>
          <p:nvPr/>
        </p:nvSpPr>
        <p:spPr>
          <a:xfrm xmlns:a="http://schemas.openxmlformats.org/drawingml/2006/main">
            <a:off x="1400175" y="15049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BDDF859A-03F3-4233-82B9-8A8C8487B98D}"/>
              </a:ext>
            </a:extLst>
          </p:cNvPr>
          <p:cNvSpPr>
            <a:spLocks xmlns:a="http://schemas.openxmlformats.org/drawingml/2006/main" noGrp="1"/>
          </p:cNvSpPr>
          <p:nvPr/>
        </p:nvSpPr>
        <p:spPr>
          <a:xfrm xmlns:a="http://schemas.openxmlformats.org/drawingml/2006/main">
            <a:off x="1400175" y="18573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 select a tree pit</a:t>
            </a:r>
          </a:p>
        </p:txBody>
      </p:sp>
      <p:sp>
        <p:nvSpPr>
          <p:cNvPr id="7" name="">
            <a:extLst xmlns:a="http://schemas.openxmlformats.org/drawingml/2006/main">
              <a:ext uri="{FF2B5EF4-FFF2-40B4-BE49-F238E27FC236}">
                <a16:creationId xmlns:a16="http://schemas.microsoft.com/office/drawing/2014/main" id="{BB18996D-AA52-4714-8691-622826BE4586}"/>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4964F7DE-6297-4E39-B45C-8B404BAF2046}"/>
              </a:ext>
            </a:extLst>
          </p:cNvPr>
          <p:cNvSpPr>
            <a:spLocks xmlns:a="http://schemas.openxmlformats.org/drawingml/2006/main" noGrp="1"/>
          </p:cNvSpPr>
          <p:nvPr/>
        </p:nvSpPr>
        <p:spPr>
          <a:xfrm xmlns:a="http://schemas.openxmlformats.org/drawingml/2006/main">
            <a:off x="1400175" y="23812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76325C87-24CF-4E1D-B903-3F7A426F831D}"/>
              </a:ext>
            </a:extLst>
          </p:cNvPr>
          <p:cNvSpPr>
            <a:spLocks xmlns:a="http://schemas.openxmlformats.org/drawingml/2006/main" noGrp="1"/>
          </p:cNvSpPr>
          <p:nvPr/>
        </p:nvSpPr>
        <p:spPr>
          <a:xfrm xmlns:a="http://schemas.openxmlformats.org/drawingml/2006/main">
            <a:off x="1400175" y="27336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Physical owl rig: Pi 5 camera and PIR sensor</a:t>
            </a:r>
          </a:p>
        </p:txBody>
      </p:sp>
      <p:sp>
        <p:nvSpPr>
          <p:cNvPr id="10" name="">
            <a:extLst xmlns:a="http://schemas.openxmlformats.org/drawingml/2006/main">
              <a:ext uri="{FF2B5EF4-FFF2-40B4-BE49-F238E27FC236}">
                <a16:creationId xmlns:a16="http://schemas.microsoft.com/office/drawing/2014/main" id="{7380519A-C1A7-4E0A-8068-660D0A1EFFE5}"/>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44E9A55E-3D17-4C45-8A5D-62851714523D}"/>
              </a:ext>
            </a:extLst>
          </p:cNvPr>
          <p:cNvSpPr>
            <a:spLocks xmlns:a="http://schemas.openxmlformats.org/drawingml/2006/main" noGrp="1"/>
          </p:cNvSpPr>
          <p:nvPr/>
        </p:nvSpPr>
        <p:spPr>
          <a:xfrm xmlns:a="http://schemas.openxmlformats.org/drawingml/2006/main">
            <a:off x="1400175" y="32575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778E9785-A1BA-4DAD-A32C-7DFC5DC789B3}"/>
              </a:ext>
            </a:extLst>
          </p:cNvPr>
          <p:cNvSpPr>
            <a:spLocks xmlns:a="http://schemas.openxmlformats.org/drawingml/2006/main" noGrp="1"/>
          </p:cNvSpPr>
          <p:nvPr/>
        </p:nvSpPr>
        <p:spPr>
          <a:xfrm xmlns:a="http://schemas.openxmlformats.org/drawingml/2006/main">
            <a:off x="1400175" y="36099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Room-lit plush model; live positive test pending</a:t>
            </a:r>
          </a:p>
        </p:txBody>
      </p:sp>
      <p:sp>
        <p:nvSpPr>
          <p:cNvPr id="13" name="">
            <a:extLst xmlns:a="http://schemas.openxmlformats.org/drawingml/2006/main">
              <a:ext uri="{FF2B5EF4-FFF2-40B4-BE49-F238E27FC236}">
                <a16:creationId xmlns:a16="http://schemas.microsoft.com/office/drawing/2014/main" id="{99AFE543-0CF2-4B7C-9846-CB7BD8C3F98A}"/>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E765B53B-661E-496C-A321-F5CA75A7DD58}"/>
              </a:ext>
            </a:extLst>
          </p:cNvPr>
          <p:cNvSpPr>
            <a:spLocks xmlns:a="http://schemas.openxmlformats.org/drawingml/2006/main" noGrp="1"/>
          </p:cNvSpPr>
          <p:nvPr/>
        </p:nvSpPr>
        <p:spPr>
          <a:xfrm xmlns:a="http://schemas.openxmlformats.org/drawingml/2006/main">
            <a:off x="1400175" y="4133850"/>
            <a:ext cx="609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1AC078B1-A56F-4666-BD83-4CEA9301C196}"/>
              </a:ext>
            </a:extLst>
          </p:cNvPr>
          <p:cNvSpPr>
            <a:spLocks xmlns:a="http://schemas.openxmlformats.org/drawingml/2006/main" noGrp="1"/>
          </p:cNvSpPr>
          <p:nvPr/>
        </p:nvSpPr>
        <p:spPr>
          <a:xfrm xmlns:a="http://schemas.openxmlformats.org/drawingml/2006/main">
            <a:off x="1400175" y="44862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Accepted events update a chosen prior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d50e862fe014fc0"/>
          <a:stretch xmlns:a="http://schemas.openxmlformats.org/drawingml/2006/main"/>
        </p:blipFill>
        <p:spPr>
          <a:xfrm xmlns:a="http://schemas.openxmlformats.org/drawingml/2006/main">
            <a:off x="8999637" y="1428750"/>
            <a:ext cx="1955602" cy="34766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F76F803-EB33-44C7-A57B-A8CC9307721F}"/>
              </a:ext>
            </a:extLst>
          </p:cNvPr>
          <p:cNvSpPr>
            <a:spLocks xmlns:a="http://schemas.openxmlformats.org/drawingml/2006/main" noGrp="1"/>
          </p:cNvSpPr>
          <p:nvPr/>
        </p:nvSpPr>
        <p:spPr>
          <a:xfrm xmlns:a="http://schemas.openxmlformats.org/drawingml/2006/main">
            <a:off x="8715375" y="4914900"/>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56B"/>
                </a:solidFill>
                <a:latin typeface="Helvetica Neue"/>
                <a:ea typeface="Helvetica Neue"/>
                <a:cs typeface="Helvetica Neue"/>
              </a:defRPr>
            </a:pPr>
            <a:r>
              <a:rPr sz="1275" b="0">
                <a:solidFill>
                  <a:srgbClr val="52656B"/>
                </a:solidFill>
                <a:latin typeface="Helvetica Neue"/>
                <a:ea typeface="Helvetica Neue"/>
                <a:cs typeface="Helvetica Neue"/>
              </a:rPr>
              <a:t>Physical prototype at the hackathon</a:t>
            </a:r>
          </a:p>
        </p:txBody>
      </p:sp>
      <p:sp>
        <p:nvSpPr>
          <p:cNvPr id="18" name="">
            <a:extLst xmlns:a="http://schemas.openxmlformats.org/drawingml/2006/main">
              <a:ext uri="{FF2B5EF4-FFF2-40B4-BE49-F238E27FC236}">
                <a16:creationId xmlns:a16="http://schemas.microsoft.com/office/drawing/2014/main" id="{FB724641-BD51-49C0-8484-25313558B7B4}"/>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F039A0-4314-419E-BD12-5DC089D8D392}"/>
              </a:ext>
            </a:extLst>
          </p:cNvPr>
          <p:cNvSpPr>
            <a:spLocks xmlns:a="http://schemas.openxmlformats.org/drawingml/2006/main" noGrp="1"/>
          </p:cNvSpPr>
          <p:nvPr/>
        </p:nvSpPr>
        <p:spPr>
          <a:xfrm xmlns:a="http://schemas.openxmlformats.org/drawingml/2006/main">
            <a:off x="762000" y="55149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Earlier replay</a:t>
            </a:r>
          </a:p>
        </p:txBody>
      </p:sp>
      <p:sp>
        <p:nvSpPr>
          <p:cNvPr id="20" name="">
            <a:extLst xmlns:a="http://schemas.openxmlformats.org/drawingml/2006/main">
              <a:ext uri="{FF2B5EF4-FFF2-40B4-BE49-F238E27FC236}">
                <a16:creationId xmlns:a16="http://schemas.microsoft.com/office/drawing/2014/main" id="{30E505C1-B124-46CD-A09E-52D5111A976E}"/>
              </a:ext>
            </a:extLst>
          </p:cNvPr>
          <p:cNvSpPr>
            <a:spLocks xmlns:a="http://schemas.openxmlformats.org/drawingml/2006/main" noGrp="1"/>
          </p:cNvSpPr>
          <p:nvPr/>
        </p:nvSpPr>
        <p:spPr>
          <a:xfrm xmlns:a="http://schemas.openxmlformats.org/drawingml/2006/main">
            <a:off x="2667000" y="54959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9.2% → 13.0% · rank 11 → 2</a:t>
            </a:r>
          </a:p>
        </p:txBody>
      </p:sp>
    </p:spTree>
    <p:extLst>
      <p:ext uri="{BB962C8B-B14F-4D97-AF65-F5344CB8AC3E}">
        <p14:creationId xmlns:p14="http://schemas.microsoft.com/office/powerpoint/2010/main" val="1198660410"/>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EEB703-D4A6-44ED-8BD9-3B77AF08048A}"/>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E11993C4-ADE0-4F7A-9DDF-B0F42B626182}"/>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199BCA-6BB6-483D-9203-00F301B58DED}"/>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2365C7A-203B-4100-828C-D151EAB5DDEE}"/>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5E5A5ECB-7082-46DB-BC45-F38BFE0D6215}"/>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and PIR at the hackathon</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Saved-frame ONNX inference on Pi</a:t>
            </a:r>
          </a:p>
        </p:txBody>
      </p:sp>
      <p:sp>
        <p:nvSpPr>
          <p:cNvPr id="6" name="">
            <a:extLst xmlns:a="http://schemas.openxmlformats.org/drawingml/2006/main">
              <a:ext uri="{FF2B5EF4-FFF2-40B4-BE49-F238E27FC236}">
                <a16:creationId xmlns:a16="http://schemas.microsoft.com/office/drawing/2014/main" id="{FF0395A8-39C7-42CB-833C-4F347F97E4C7}"/>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E69BC58-83DA-4B6C-A6A1-1ADAACB7A916}"/>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C41FB99B-1D7D-4507-B139-6291D258FB6A}"/>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V5 development: .961 worst-clip rat AP50</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V4 new-room test: .883, below target</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Fresh independent V5 test pending</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Earlier footage → API → map verified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field deployment or rat count</a:t>
            </a:r>
          </a:p>
        </p:txBody>
      </p:sp>
      <p:sp>
        <p:nvSpPr>
          <p:cNvPr id="9" name="">
            <a:extLst xmlns:a="http://schemas.openxmlformats.org/drawingml/2006/main">
              <a:ext uri="{FF2B5EF4-FFF2-40B4-BE49-F238E27FC236}">
                <a16:creationId xmlns:a16="http://schemas.microsoft.com/office/drawing/2014/main" id="{0FA5BD74-AB4C-47F1-9E2E-ADF402EED65D}"/>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5A400A-431D-4C91-9CEC-7B102D521384}"/>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F50DA8AB-B021-4E23-866D-11A1D6F930A0}"/>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02635"/>
                </a:solidFill>
                <a:latin typeface="Helvetica Neue"/>
                <a:ea typeface="Helvetica Neue"/>
                <a:cs typeface="Helvetica Neue"/>
              </a:defRPr>
            </a:pPr>
            <a:r>
              <a:rPr sz="2175" b="0">
                <a:solidFill>
                  <a:srgbClr val="102635"/>
                </a:solidFill>
                <a:latin typeface="Helvetica Neue"/>
                <a:ea typeface="Helvetica Neue"/>
                <a:cs typeface="Helvetica Neue"/>
              </a:rPr>
              <a:t>Fresh detector test, then a 50-node pilot checked against later sweeps.</a:t>
            </a:r>
          </a:p>
        </p:txBody>
      </p:sp>
    </p:spTree>
    <p:extLst>
      <p:ext uri="{BB962C8B-B14F-4D97-AF65-F5344CB8AC3E}">
        <p14:creationId xmlns:p14="http://schemas.microsoft.com/office/powerpoint/2010/main" val="1181372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2026-09-27T03:25:59.0950000Z</dcterms:created>
  <dcterms:modified xsi:type="dcterms:W3CDTF">2026-09-27T03:25:59.0950000Z</dcterms:modified>
</coreProperties>
</file>