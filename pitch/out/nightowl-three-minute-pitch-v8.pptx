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2dcdcaa4f6946da" /><Relationship Type="http://schemas.openxmlformats.org/officeDocument/2006/relationships/extended-properties" Target="/docProps/app.xml" Id="R87d6fcd36c9246f4" /><Relationship Type="http://schemas.openxmlformats.org/officeDocument/2006/relationships/officeDocument" Target="/ppt/presentation.xml" Id="Re3755c96986f4ab5" /></Relationships>
</file>

<file path=ppt/presentation.xml><?xml version="1.0" encoding="utf-8"?>
<p:presentation xmlns:p="http://schemas.openxmlformats.org/presentationml/2006/main">
  <p:sldMasterIdLst>
    <p:sldMasterId xmlns:r="http://schemas.openxmlformats.org/officeDocument/2006/relationships" id="2147483648" r:id="Rea4bd421a0d64513"/>
  </p:sldMasterIdLst>
  <p:notesMasterIdLst>
    <p:notesMasterId xmlns:r="http://schemas.openxmlformats.org/officeDocument/2006/relationships" r:id="R9701b32964014420"/>
  </p:notesMasterIdLst>
  <p:sldIdLst>
    <p:sldId xmlns:r="http://schemas.openxmlformats.org/officeDocument/2006/relationships" id="256" r:id="R9c649a50ffa542c7"/>
    <p:sldId xmlns:r="http://schemas.openxmlformats.org/officeDocument/2006/relationships" id="257" r:id="R306671cc11d043cf"/>
    <p:sldId xmlns:r="http://schemas.openxmlformats.org/officeDocument/2006/relationships" id="258" r:id="Rc2bb0493c68340c2"/>
    <p:sldId xmlns:r="http://schemas.openxmlformats.org/officeDocument/2006/relationships" id="259" r:id="R0eaf258d0fd64257"/>
    <p:sldId xmlns:r="http://schemas.openxmlformats.org/officeDocument/2006/relationships" id="260" r:id="R8b78d0ade96547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728b006d2a4e83" /><Relationship Type="http://schemas.openxmlformats.org/officeDocument/2006/relationships/slideMaster" Target="/ppt/slideMasters/slideMaster1.xml" Id="Rea4bd421a0d64513" /><Relationship Type="http://schemas.openxmlformats.org/officeDocument/2006/relationships/notesMaster" Target="/ppt/notesMasters/notesMaster1.xml" Id="R9701b32964014420" /><Relationship Type="http://schemas.openxmlformats.org/officeDocument/2006/relationships/presProps" Target="/ppt/presProps.xml" Id="R99927cebe59e4700" /><Relationship Type="http://schemas.openxmlformats.org/officeDocument/2006/relationships/tableStyles" Target="/ppt/tableStyles.xml" Id="Ra06e33d774724bb2" /><Relationship Type="http://schemas.openxmlformats.org/officeDocument/2006/relationships/slide" Target="/ppt/slides/slide1.xml" Id="R9c649a50ffa542c7" /><Relationship Type="http://schemas.openxmlformats.org/officeDocument/2006/relationships/slide" Target="/ppt/slides/slide2.xml" Id="R306671cc11d043cf" /><Relationship Type="http://schemas.openxmlformats.org/officeDocument/2006/relationships/slide" Target="/ppt/slides/slide3.xml" Id="Rc2bb0493c68340c2" /><Relationship Type="http://schemas.openxmlformats.org/officeDocument/2006/relationships/slide" Target="/ppt/slides/slide4.xml" Id="R0eaf258d0fd64257" /><Relationship Type="http://schemas.openxmlformats.org/officeDocument/2006/relationships/slide" Target="/ppt/slides/slide5.xml" Id="R8b78d0ade96547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f366ef5e8f4b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6dc2a263d64aaa" /><Relationship Type="http://schemas.openxmlformats.org/officeDocument/2006/relationships/notesMaster" Target="/ppt/notesMasters/notesMaster1.xml" Id="R9b4bb6f95f9442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a9f25ecbbe455f" /><Relationship Type="http://schemas.openxmlformats.org/officeDocument/2006/relationships/notesMaster" Target="/ppt/notesMasters/notesMaster1.xml" Id="R7afcf6728b4f4e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75dccc7dd8400c" /><Relationship Type="http://schemas.openxmlformats.org/officeDocument/2006/relationships/notesMaster" Target="/ppt/notesMasters/notesMaster1.xml" Id="Ra43d0be84a3d4f1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6bd703211d4c49" /><Relationship Type="http://schemas.openxmlformats.org/officeDocument/2006/relationships/notesMaster" Target="/ppt/notesMasters/notesMaster1.xml" Id="Re2c50299fd604c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5beaa3c2c04559" /><Relationship Type="http://schemas.openxmlformats.org/officeDocument/2006/relationships/notesMaster" Target="/ppt/notesMasters/notesMaster1.xml" Id="Rb2cadc0a524a40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York records rat complaints, but a call depends on someone choosing to report. Barn Owl asks where active rat signs might be found even when 311 is quiet. We use the city's inspections of swept blocks as an independent outcome for training and backtesting. That inspection sample still has limits, which I will show on the evidence slide.</a:t>
            </a:r>
          </a:p>
          <a:p xmlns:a="http://schemas.openxmlformats.org/drawingml/2006/main">
            <a:r>
              <a:t/>
            </a:r>
          </a:p>
          <a:p xmlns:a="http://schemas.openxmlformats.org/drawingml/2006/main">
            <a:r>
              <a:t>Source: model/README.md, model/05_backtest.py; plan/master-plan.md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 Owl scores each H3 cell and month two ways. Model A estimates complaints. Model B estimates the share of swept lots where an inspector would find active signs. Model B uses building and environmental features and omits complaint counts. A positive Silence Score means modeled risk ranks above reporting. In the September 2026 export, East Harlem North has zero complaints in the prior 12 months, 8.2% modeled risk, and a +80 gap, rank 10 of 5170. The West Village cell has 31 complaints, 4.3% modeled risk, and a -15 gap. These are two examples of model output, not measured prevalence or a causal income result. On the live map, switch from complaints to risk, then silence.</a:t>
            </a:r>
          </a:p>
          <a:p xmlns:a="http://schemas.openxmlformats.org/drawingml/2006/main">
            <a:r>
              <a:t/>
            </a:r>
          </a:p>
          <a:p xmlns:a="http://schemas.openxmlformats.org/drawingml/2006/main">
            <a:r>
              <a:t>Source: model/out/cells.json; model/README.md §Key decisions; web/src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exported rolling backtest, not a simulation. Each month the model trains only on earlier months, then each method picks its top 50 among cells that inspectors actually swept that month. We count the share of swept lots in those picked cells with active rat signs and average the monthly shares. Model B risk averages 19.5%, compared with 15.2% for a ranking by prior 311 calls, a 4.3 point gap. The result is conditional on the swept sample; it does not tell us how many rats live citywide or prove a causal gain from deploying sensors. The quiet-block comparison is separate and is not the bar labeled Model B.</a:t>
            </a:r>
          </a:p>
          <a:p xmlns:a="http://schemas.openxmlformats.org/drawingml/2006/main">
            <a:r>
              <a:t/>
            </a:r>
          </a:p>
          <a:p xmlns:a="http://schemas.openxmlformats.org/drawingml/2006/main">
            <a:r>
              <a:t>Source: model/out/backtest.json and model/05_backtest.py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planner has 20 candidate tree sites in its current export. The table prop is room-lit. In a local Mac replay, original camera footage from zoom15_b at 59–63 seconds passed through the exported ONNX model, the Pi Detector class and its three-hit rules, crop generation, and the local API. Exactly one event at confidence 0.860 was accepted. The served cell score moved from 0.0923 to 0.1297; the plan candidate moved from rank 11 to 2. The frontend screenshot showed the crop, one sighting, and rank 2. This is a verified saved-video software loop, not a physical Pi inference test or the formal 20-push/three-minute-negative event gate. PIR only wakes capture; the detector decides. Team-reported IR capture does not validate the model under IR. An accepted event updates a chosen Beta prior and can rerank candidates; it does not retrain Model B. If demonstrating from recorded footage on stage, name it as recorded. A physical Pi trigger can be shown only if it works in a fresh test.</a:t>
            </a:r>
          </a:p>
          <a:p xmlns:a="http://schemas.openxmlformats.org/drawingml/2006/main">
            <a:r>
              <a:t/>
            </a:r>
          </a:p>
          <a:p xmlns:a="http://schemas.openxmlformats.org/drawingml/2006/main">
            <a:r>
              <a:t>Source: vision/replay_video.py; vision/RUNBOOK.md; vision/TRAINING_RESULTS.md; model/out/plan.json; api/posterior.py; team local replay and frontend screenshot 2026-09-26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honest state. The data exports, model scores, and sweep backtest exist. Teammates report working Pi 5 camera, PIR, and infrared capture. The prop footage is room-lit; IR footage was excluded from training because the object could not be labeled reliably. V1 failed box detection validation, not an event test. V2 achieved matching square-416 PyTorch and ONNX rat AP50 of 0.93674 on the 22-frame held-out close-view clip (17 rat boxes), 0.65108 on the 27-frame separate floor clip (12 rat boxes), and 0.79031 across both clips. Its combined result misses the rat AP50 &gt; 0.9 gate. A separate Mac replay of saved camera footage carried one accepted event through the Pi detector rules and local API to the visible map. That is an integration check on recorded footage. The formal 20-push/3-minute-negative event gate and physical Pi inference have not been evaluated. The event posterior uses a chosen prior; an accepted event updates the served score and can change candidate order, but does not retrain the city model. There is no field deployment or rat population estimate. A supervised 50-node pilot would need later proactive sweeps and false-event checks.</a:t>
            </a:r>
          </a:p>
          <a:p xmlns:a="http://schemas.openxmlformats.org/drawingml/2006/main">
            <a:r>
              <a:t/>
            </a:r>
          </a:p>
          <a:p xmlns:a="http://schemas.openxmlformats.org/drawingml/2006/main">
            <a:r>
              <a:t>Source: vision/TRAINING_RESULTS.md; model/out/backtest.json; model/out/metrics.json; node/DEBRIEF-utsav.md; api/posterior.py; plan/master-plan.md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b131b067424cf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2fb11b1c424c0d" /><Relationship Type="http://schemas.openxmlformats.org/officeDocument/2006/relationships/slideLayout" Target="/ppt/slideLayouts/slideLayout1.xml" Id="Rb5f3b1da2b6645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f3b1da2b6645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aa86d8a3264077" /><Relationship Type="http://schemas.openxmlformats.org/officeDocument/2006/relationships/notesSlide" Target="/ppt/notesSlides/notesSlide1.xml" Id="Rcaa3748130cc4d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ae81e202e5430f" /><Relationship Type="http://schemas.openxmlformats.org/officeDocument/2006/relationships/notesSlide" Target="/ppt/notesSlides/notesSlide2.xml" Id="R28986c4f34cd4f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d402c41b8ab4e80" /><Relationship Type="http://schemas.openxmlformats.org/officeDocument/2006/relationships/chart" Target="/ppt/slides/charts/chart1.xml" Id="R1a28c53f68a24cad" /><Relationship Type="http://schemas.openxmlformats.org/officeDocument/2006/relationships/notesSlide" Target="/ppt/notesSlides/notesSlide3.xml" Id="R50a3f592e2d243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471dcd04c84091" /><Relationship Type="http://schemas.openxmlformats.org/officeDocument/2006/relationships/notesSlide" Target="/ppt/notesSlides/notesSlide4.xml" Id="R32402581326b4b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25db7b03c24a32" /><Relationship Type="http://schemas.openxmlformats.org/officeDocument/2006/relationships/notesSlide" Target="/ppt/notesSlides/notesSlide5.xml" Id="R2f593588b1c94e1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Active-sign share</c:v>
          </c:tx>
          <c:spPr>
            <a:solidFill xmlns:a="http://schemas.openxmlformats.org/drawingml/2006/main">
              <a:srgbClr val="087E83"/>
            </a:solidFill>
          </c:spPr>
          <c:dPt>
            <c:idx val="1"/>
            <c:invertIfNegative val="0"/>
            <c:spPr>
              <a:solidFill xmlns:a="http://schemas.openxmlformats.org/drawingml/2006/main">
                <a:srgbClr val="76979B"/>
              </a:solidFill>
            </c:spPr>
          </c:dPt>
          <c:dPt>
            <c:idx val="2"/>
            <c:invertIfNegative val="0"/>
            <c:spPr>
              <a:solidFill xmlns:a="http://schemas.openxmlformats.org/drawingml/2006/main">
                <a:srgbClr val="D96C50"/>
              </a:solidFill>
            </c:spPr>
          </c:dPt>
          <c:dPt>
            <c:idx val="3"/>
            <c:invertIfNegative val="0"/>
            <c:spPr>
              <a:solidFill xmlns:a="http://schemas.openxmlformats.org/drawingml/2006/main">
                <a:srgbClr val="B9C8C5"/>
              </a:solidFill>
            </c:spPr>
          </c:dPt>
          <c:cat>
            <c:strRef>
              <c:f>'Chart Data'!$A$2:$A$5</c:f>
              <c:strCache>
                <c:ptCount val="4"/>
                <c:pt idx="0">
                  <c:v>Model B risk</c:v>
                </c:pt>
                <c:pt idx="1">
                  <c:v>Prior rat findings</c:v>
                </c:pt>
                <c:pt idx="2">
                  <c:v>311 complaints</c:v>
                </c:pt>
                <c:pt idx="3">
                  <c:v>All swept cells</c:v>
                </c:pt>
              </c:strCache>
            </c:strRef>
          </c:cat>
          <c:val>
            <c:numRef>
              <c:f>'Chart Data'!$B$2:$B$5</c:f>
              <c:numCache>
                <c:formatCode>0.0%</c:formatCode>
                <c:ptCount val="4"/>
                <c:pt idx="0">
                  <c:v>0.1948</c:v>
                </c:pt>
                <c:pt idx="1">
                  <c:v>0.1707</c:v>
                </c:pt>
                <c:pt idx="2">
                  <c:v>0.1522</c:v>
                </c:pt>
                <c:pt idx="3">
                  <c:v>0.1154</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8313D"/>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E6EC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56B"/>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18313D"/>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6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B17050-3D3D-4395-A08D-2EC422DD3523}"/>
              </a:ext>
            </a:extLst>
          </p:cNvPr>
          <p:cNvSpPr>
            <a:spLocks xmlns:a="http://schemas.openxmlformats.org/drawingml/2006/main" noGrp="1"/>
          </p:cNvSpPr>
          <p:nvPr/>
        </p:nvSpPr>
        <p:spPr>
          <a:xfrm xmlns:a="http://schemas.openxmlformats.org/drawingml/2006/main">
            <a:off x="762000" y="838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BARN OWL</a:t>
            </a:r>
          </a:p>
        </p:txBody>
      </p:sp>
      <p:sp>
        <p:nvSpPr>
          <p:cNvPr id="2" name="">
            <a:extLst xmlns:a="http://schemas.openxmlformats.org/drawingml/2006/main">
              <a:ext uri="{FF2B5EF4-FFF2-40B4-BE49-F238E27FC236}">
                <a16:creationId xmlns:a16="http://schemas.microsoft.com/office/drawing/2014/main" id="{3119FFAF-0093-45C4-991C-5140E689C6A8}"/>
              </a:ext>
            </a:extLst>
          </p:cNvPr>
          <p:cNvSpPr>
            <a:spLocks xmlns:a="http://schemas.openxmlformats.org/drawingml/2006/main" noGrp="1"/>
          </p:cNvSpPr>
          <p:nvPr/>
        </p:nvSpPr>
        <p:spPr>
          <a:xfrm xmlns:a="http://schemas.openxmlformats.org/drawingml/2006/main">
            <a:off x="762000" y="1952625"/>
            <a:ext cx="1028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0">
                <a:solidFill>
                  <a:srgbClr val="AEE5D2"/>
                </a:solidFill>
                <a:latin typeface="Helvetica Neue"/>
                <a:ea typeface="Helvetica Neue"/>
                <a:cs typeface="Helvetica Neue"/>
              </a:defRPr>
            </a:pPr>
            <a:r>
              <a:rPr sz="3225" b="0">
                <a:solidFill>
                  <a:srgbClr val="AEE5D2"/>
                </a:solidFill>
                <a:latin typeface="Helvetica Neue"/>
                <a:ea typeface="Helvetica Neue"/>
                <a:cs typeface="Helvetica Neue"/>
              </a:rPr>
              <a:t>Find rat risk where 311 is quiet</a:t>
            </a:r>
          </a:p>
        </p:txBody>
      </p:sp>
      <p:sp>
        <p:nvSpPr>
          <p:cNvPr id="3" name="">
            <a:extLst xmlns:a="http://schemas.openxmlformats.org/drawingml/2006/main">
              <a:ext uri="{FF2B5EF4-FFF2-40B4-BE49-F238E27FC236}">
                <a16:creationId xmlns:a16="http://schemas.microsoft.com/office/drawing/2014/main" id="{D056D775-C99E-4A1D-A34D-51F0EE2E6255}"/>
              </a:ext>
            </a:extLst>
          </p:cNvPr>
          <p:cNvSpPr>
            <a:spLocks xmlns:a="http://schemas.openxmlformats.org/drawingml/2006/main" noGrp="1"/>
          </p:cNvSpPr>
          <p:nvPr/>
        </p:nvSpPr>
        <p:spPr>
          <a:xfrm xmlns:a="http://schemas.openxmlformats.org/drawingml/2006/main">
            <a:off x="762000" y="3133725"/>
            <a:ext cx="10287000" cy="381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D56840-9137-4FE4-808F-8D404133DCB0}"/>
              </a:ext>
            </a:extLst>
          </p:cNvPr>
          <p:cNvSpPr>
            <a:spLocks xmlns:a="http://schemas.openxmlformats.org/drawingml/2006/main" noGrp="1"/>
          </p:cNvSpPr>
          <p:nvPr/>
        </p:nvSpPr>
        <p:spPr>
          <a:xfrm xmlns:a="http://schemas.openxmlformats.org/drawingml/2006/main">
            <a:off x="762000" y="3524250"/>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A 311 complaint is a report.</a:t>
            </a:r>
          </a:p>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It is not a rat count.</a:t>
            </a:r>
          </a:p>
        </p:txBody>
      </p:sp>
      <p:sp>
        <p:nvSpPr>
          <p:cNvPr id="5" name="">
            <a:extLst xmlns:a="http://schemas.openxmlformats.org/drawingml/2006/main">
              <a:ext uri="{FF2B5EF4-FFF2-40B4-BE49-F238E27FC236}">
                <a16:creationId xmlns:a16="http://schemas.microsoft.com/office/drawing/2014/main" id="{95FE16E1-FFBB-4E30-8C12-AAB8DDA795AE}"/>
              </a:ext>
            </a:extLst>
          </p:cNvPr>
          <p:cNvSpPr>
            <a:spLocks xmlns:a="http://schemas.openxmlformats.org/drawingml/2006/main" noGrp="1"/>
          </p:cNvSpPr>
          <p:nvPr/>
        </p:nvSpPr>
        <p:spPr>
          <a:xfrm xmlns:a="http://schemas.openxmlformats.org/drawingml/2006/main">
            <a:off x="762000" y="546735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AEE5D2"/>
                </a:solidFill>
                <a:latin typeface="Helvetica Neue"/>
                <a:ea typeface="Helvetica Neue"/>
                <a:cs typeface="Helvetica Neue"/>
              </a:defRPr>
            </a:pPr>
            <a:r>
              <a:rPr sz="2025" b="0">
                <a:solidFill>
                  <a:srgbClr val="AEE5D2"/>
                </a:solidFill>
                <a:latin typeface="Helvetica Neue"/>
                <a:ea typeface="Helvetica Neue"/>
                <a:cs typeface="Helvetica Neue"/>
              </a:rPr>
              <a:t>NYC inspections give us another signal: active rat signs found on swept blocks.</a:t>
            </a:r>
          </a:p>
        </p:txBody>
      </p:sp>
    </p:spTree>
    <p:extLst>
      <p:ext uri="{BB962C8B-B14F-4D97-AF65-F5344CB8AC3E}">
        <p14:creationId xmlns:p14="http://schemas.microsoft.com/office/powerpoint/2010/main" val="608479904"/>
      </p:ext>
    </p:extLst>
  </p:cSld>
</p:sld>
</file>

<file path=ppt/slides/slide2.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AC7DDDE-6882-47FD-AF92-E7ADA4BB4064}"/>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Two signals, one map</a:t>
            </a:r>
          </a:p>
        </p:txBody>
      </p:sp>
      <p:sp>
        <p:nvSpPr>
          <p:cNvPr id="2" name="">
            <a:extLst xmlns:a="http://schemas.openxmlformats.org/drawingml/2006/main">
              <a:ext uri="{FF2B5EF4-FFF2-40B4-BE49-F238E27FC236}">
                <a16:creationId xmlns:a16="http://schemas.microsoft.com/office/drawing/2014/main" id="{02663104-AFD6-4927-9682-49DC5450CAB3}"/>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55AEA14-DF17-4AA8-9263-062F9D5DE507}"/>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EBC58A82-2E99-431E-B6AE-BFA757B657FA}"/>
              </a:ext>
            </a:extLst>
          </p:cNvPr>
          <p:cNvSpPr>
            <a:spLocks xmlns:a="http://schemas.openxmlformats.org/drawingml/2006/main" noGrp="1"/>
          </p:cNvSpPr>
          <p:nvPr/>
        </p:nvSpPr>
        <p:spPr>
          <a:xfrm xmlns:a="http://schemas.openxmlformats.org/drawingml/2006/main">
            <a:off x="762000" y="16668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D96C50"/>
                </a:solidFill>
                <a:latin typeface="Helvetica Neue"/>
                <a:ea typeface="Helvetica Neue"/>
                <a:cs typeface="Helvetica Neue"/>
              </a:defRPr>
            </a:pPr>
            <a:r>
              <a:rPr sz="4575" b="1">
                <a:solidFill>
                  <a:srgbClr val="D96C50"/>
                </a:solidFill>
                <a:latin typeface="Helvetica Neue"/>
                <a:ea typeface="Helvetica Neue"/>
                <a:cs typeface="Helvetica Neue"/>
              </a:rPr>
              <a:t>A</a:t>
            </a:r>
          </a:p>
        </p:txBody>
      </p:sp>
      <p:sp>
        <p:nvSpPr>
          <p:cNvPr id="5" name="">
            <a:extLst xmlns:a="http://schemas.openxmlformats.org/drawingml/2006/main">
              <a:ext uri="{FF2B5EF4-FFF2-40B4-BE49-F238E27FC236}">
                <a16:creationId xmlns:a16="http://schemas.microsoft.com/office/drawing/2014/main" id="{4E673B72-C145-422D-8E5E-309E94C4EC73}"/>
              </a:ext>
            </a:extLst>
          </p:cNvPr>
          <p:cNvSpPr>
            <a:spLocks xmlns:a="http://schemas.openxmlformats.org/drawingml/2006/main" noGrp="1"/>
          </p:cNvSpPr>
          <p:nvPr/>
        </p:nvSpPr>
        <p:spPr>
          <a:xfrm xmlns:a="http://schemas.openxmlformats.org/drawingml/2006/main">
            <a:off x="1600200" y="1619250"/>
            <a:ext cx="376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Complaint model</a:t>
            </a:r>
          </a:p>
        </p:txBody>
      </p:sp>
      <p:sp>
        <p:nvSpPr>
          <p:cNvPr id="6" name="">
            <a:extLst xmlns:a="http://schemas.openxmlformats.org/drawingml/2006/main">
              <a:ext uri="{FF2B5EF4-FFF2-40B4-BE49-F238E27FC236}">
                <a16:creationId xmlns:a16="http://schemas.microsoft.com/office/drawing/2014/main" id="{1661FB86-9173-4A3D-BD29-F1952BA0E6CB}"/>
              </a:ext>
            </a:extLst>
          </p:cNvPr>
          <p:cNvSpPr>
            <a:spLocks xmlns:a="http://schemas.openxmlformats.org/drawingml/2006/main" noGrp="1"/>
          </p:cNvSpPr>
          <p:nvPr/>
        </p:nvSpPr>
        <p:spPr>
          <a:xfrm xmlns:a="http://schemas.openxmlformats.org/drawingml/2006/main">
            <a:off x="1600200" y="21145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Ranks expected 311 reports</a:t>
            </a:r>
          </a:p>
        </p:txBody>
      </p:sp>
      <p:sp>
        <p:nvSpPr>
          <p:cNvPr id="7" name="">
            <a:extLst xmlns:a="http://schemas.openxmlformats.org/drawingml/2006/main">
              <a:ext uri="{FF2B5EF4-FFF2-40B4-BE49-F238E27FC236}">
                <a16:creationId xmlns:a16="http://schemas.microsoft.com/office/drawing/2014/main" id="{825C3A32-7ABF-4FAA-AB57-3915F5134300}"/>
              </a:ext>
            </a:extLst>
          </p:cNvPr>
          <p:cNvSpPr>
            <a:spLocks xmlns:a="http://schemas.openxmlformats.org/drawingml/2006/main" noGrp="1"/>
          </p:cNvSpPr>
          <p:nvPr/>
        </p:nvSpPr>
        <p:spPr>
          <a:xfrm xmlns:a="http://schemas.openxmlformats.org/drawingml/2006/main">
            <a:off x="762000" y="31527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087E83"/>
                </a:solidFill>
                <a:latin typeface="Helvetica Neue"/>
                <a:ea typeface="Helvetica Neue"/>
                <a:cs typeface="Helvetica Neue"/>
              </a:defRPr>
            </a:pPr>
            <a:r>
              <a:rPr sz="4575" b="1">
                <a:solidFill>
                  <a:srgbClr val="087E83"/>
                </a:solidFill>
                <a:latin typeface="Helvetica Neue"/>
                <a:ea typeface="Helvetica Neue"/>
                <a:cs typeface="Helvetica Neue"/>
              </a:rPr>
              <a:t>B</a:t>
            </a:r>
          </a:p>
        </p:txBody>
      </p:sp>
      <p:sp>
        <p:nvSpPr>
          <p:cNvPr id="8" name="">
            <a:extLst xmlns:a="http://schemas.openxmlformats.org/drawingml/2006/main">
              <a:ext uri="{FF2B5EF4-FFF2-40B4-BE49-F238E27FC236}">
                <a16:creationId xmlns:a16="http://schemas.microsoft.com/office/drawing/2014/main" id="{0D38F0E5-37FB-4942-BA95-893C84773ED4}"/>
              </a:ext>
            </a:extLst>
          </p:cNvPr>
          <p:cNvSpPr>
            <a:spLocks xmlns:a="http://schemas.openxmlformats.org/drawingml/2006/main" noGrp="1"/>
          </p:cNvSpPr>
          <p:nvPr/>
        </p:nvSpPr>
        <p:spPr>
          <a:xfrm xmlns:a="http://schemas.openxmlformats.org/drawingml/2006/main">
            <a:off x="1600200" y="3114675"/>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Active-sign model</a:t>
            </a:r>
          </a:p>
        </p:txBody>
      </p:sp>
      <p:sp>
        <p:nvSpPr>
          <p:cNvPr id="9" name="">
            <a:extLst xmlns:a="http://schemas.openxmlformats.org/drawingml/2006/main">
              <a:ext uri="{FF2B5EF4-FFF2-40B4-BE49-F238E27FC236}">
                <a16:creationId xmlns:a16="http://schemas.microsoft.com/office/drawing/2014/main" id="{C3278CC5-AB2F-4C02-AACF-7BA050E113F3}"/>
              </a:ext>
            </a:extLst>
          </p:cNvPr>
          <p:cNvSpPr>
            <a:spLocks xmlns:a="http://schemas.openxmlformats.org/drawingml/2006/main" noGrp="1"/>
          </p:cNvSpPr>
          <p:nvPr/>
        </p:nvSpPr>
        <p:spPr>
          <a:xfrm xmlns:a="http://schemas.openxmlformats.org/drawingml/2006/main">
            <a:off x="1600200" y="3629025"/>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Uses physical and environmental features; no complaint counts</a:t>
            </a:r>
          </a:p>
        </p:txBody>
      </p:sp>
      <p:sp>
        <p:nvSpPr>
          <p:cNvPr id="10" name="">
            <a:extLst xmlns:a="http://schemas.openxmlformats.org/drawingml/2006/main">
              <a:ext uri="{FF2B5EF4-FFF2-40B4-BE49-F238E27FC236}">
                <a16:creationId xmlns:a16="http://schemas.microsoft.com/office/drawing/2014/main" id="{31031C01-3860-40CB-A5F5-E82D74033233}"/>
              </a:ext>
            </a:extLst>
          </p:cNvPr>
          <p:cNvSpPr>
            <a:spLocks xmlns:a="http://schemas.openxmlformats.org/drawingml/2006/main" noGrp="1"/>
          </p:cNvSpPr>
          <p:nvPr/>
        </p:nvSpPr>
        <p:spPr>
          <a:xfrm xmlns:a="http://schemas.openxmlformats.org/drawingml/2006/main">
            <a:off x="6353175" y="1666875"/>
            <a:ext cx="19050" cy="35242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3A5A7BA-06A6-4010-A4D8-AF435802C1EC}"/>
              </a:ext>
            </a:extLst>
          </p:cNvPr>
          <p:cNvSpPr>
            <a:spLocks xmlns:a="http://schemas.openxmlformats.org/drawingml/2006/main" noGrp="1"/>
          </p:cNvSpPr>
          <p:nvPr/>
        </p:nvSpPr>
        <p:spPr>
          <a:xfrm xmlns:a="http://schemas.openxmlformats.org/drawingml/2006/main">
            <a:off x="6858000" y="165735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02635"/>
                </a:solidFill>
                <a:latin typeface="Helvetica Neue"/>
                <a:ea typeface="Helvetica Neue"/>
                <a:cs typeface="Helvetica Neue"/>
              </a:defRPr>
            </a:pPr>
            <a:r>
              <a:rPr sz="2625" b="1">
                <a:solidFill>
                  <a:srgbClr val="102635"/>
                </a:solidFill>
                <a:latin typeface="Helvetica Neue"/>
                <a:ea typeface="Helvetica Neue"/>
                <a:cs typeface="Helvetica Neue"/>
              </a:rPr>
              <a:t>Silence Score</a:t>
            </a:r>
          </a:p>
        </p:txBody>
      </p:sp>
      <p:sp>
        <p:nvSpPr>
          <p:cNvPr id="12" name="">
            <a:extLst xmlns:a="http://schemas.openxmlformats.org/drawingml/2006/main">
              <a:ext uri="{FF2B5EF4-FFF2-40B4-BE49-F238E27FC236}">
                <a16:creationId xmlns:a16="http://schemas.microsoft.com/office/drawing/2014/main" id="{779F4BED-4AA4-4456-946C-6754F5106EE3}"/>
              </a:ext>
            </a:extLst>
          </p:cNvPr>
          <p:cNvSpPr>
            <a:spLocks xmlns:a="http://schemas.openxmlformats.org/drawingml/2006/main" noGrp="1"/>
          </p:cNvSpPr>
          <p:nvPr/>
        </p:nvSpPr>
        <p:spPr>
          <a:xfrm xmlns:a="http://schemas.openxmlformats.org/drawingml/2006/main">
            <a:off x="6858000" y="2209800"/>
            <a:ext cx="447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087E83"/>
                </a:solidFill>
                <a:latin typeface="Helvetica Neue"/>
                <a:ea typeface="Helvetica Neue"/>
                <a:cs typeface="Helvetica Neue"/>
              </a:defRPr>
            </a:pPr>
            <a:r>
              <a:rPr sz="2025" b="0">
                <a:solidFill>
                  <a:srgbClr val="087E83"/>
                </a:solidFill>
                <a:latin typeface="Helvetica Neue"/>
                <a:ea typeface="Helvetica Neue"/>
                <a:cs typeface="Helvetica Neue"/>
              </a:rPr>
              <a:t>risk percentile − report percentile</a:t>
            </a:r>
          </a:p>
        </p:txBody>
      </p:sp>
      <p:sp>
        <p:nvSpPr>
          <p:cNvPr id="13" name="">
            <a:extLst xmlns:a="http://schemas.openxmlformats.org/drawingml/2006/main">
              <a:ext uri="{FF2B5EF4-FFF2-40B4-BE49-F238E27FC236}">
                <a16:creationId xmlns:a16="http://schemas.microsoft.com/office/drawing/2014/main" id="{2DA300CE-6967-4FA5-ADC3-CE8D5E76425E}"/>
              </a:ext>
            </a:extLst>
          </p:cNvPr>
          <p:cNvSpPr>
            <a:spLocks xmlns:a="http://schemas.openxmlformats.org/drawingml/2006/main" noGrp="1"/>
          </p:cNvSpPr>
          <p:nvPr/>
        </p:nvSpPr>
        <p:spPr>
          <a:xfrm xmlns:a="http://schemas.openxmlformats.org/drawingml/2006/main">
            <a:off x="6858000" y="31718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087E83"/>
                </a:solidFill>
                <a:latin typeface="Helvetica Neue"/>
                <a:ea typeface="Helvetica Neue"/>
                <a:cs typeface="Helvetica Neue"/>
              </a:defRPr>
            </a:pPr>
            <a:r>
              <a:rPr sz="2325" b="1">
                <a:solidFill>
                  <a:srgbClr val="087E83"/>
                </a:solidFill>
                <a:latin typeface="Helvetica Neue"/>
                <a:ea typeface="Helvetica Neue"/>
                <a:cs typeface="Helvetica Neue"/>
              </a:rPr>
              <a:t>East Harlem North   +80</a:t>
            </a:r>
          </a:p>
        </p:txBody>
      </p:sp>
      <p:sp>
        <p:nvSpPr>
          <p:cNvPr id="14" name="">
            <a:extLst xmlns:a="http://schemas.openxmlformats.org/drawingml/2006/main">
              <a:ext uri="{FF2B5EF4-FFF2-40B4-BE49-F238E27FC236}">
                <a16:creationId xmlns:a16="http://schemas.microsoft.com/office/drawing/2014/main" id="{C29A6A35-602D-41F3-9DAB-1A2C5716B3D4}"/>
              </a:ext>
            </a:extLst>
          </p:cNvPr>
          <p:cNvSpPr>
            <a:spLocks xmlns:a="http://schemas.openxmlformats.org/drawingml/2006/main" noGrp="1"/>
          </p:cNvSpPr>
          <p:nvPr/>
        </p:nvSpPr>
        <p:spPr>
          <a:xfrm xmlns:a="http://schemas.openxmlformats.org/drawingml/2006/main">
            <a:off x="6858000" y="366712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0 complaints · 8.2% modeled risk</a:t>
            </a:r>
          </a:p>
        </p:txBody>
      </p:sp>
      <p:sp>
        <p:nvSpPr>
          <p:cNvPr id="15" name="">
            <a:extLst xmlns:a="http://schemas.openxmlformats.org/drawingml/2006/main">
              <a:ext uri="{FF2B5EF4-FFF2-40B4-BE49-F238E27FC236}">
                <a16:creationId xmlns:a16="http://schemas.microsoft.com/office/drawing/2014/main" id="{D1BFE6A5-337E-47F9-8E10-F7746F521DCB}"/>
              </a:ext>
            </a:extLst>
          </p:cNvPr>
          <p:cNvSpPr>
            <a:spLocks xmlns:a="http://schemas.openxmlformats.org/drawingml/2006/main" noGrp="1"/>
          </p:cNvSpPr>
          <p:nvPr/>
        </p:nvSpPr>
        <p:spPr>
          <a:xfrm xmlns:a="http://schemas.openxmlformats.org/drawingml/2006/main">
            <a:off x="6858000" y="444817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52656B"/>
                </a:solidFill>
                <a:latin typeface="Helvetica Neue"/>
                <a:ea typeface="Helvetica Neue"/>
                <a:cs typeface="Helvetica Neue"/>
              </a:defRPr>
            </a:pPr>
            <a:r>
              <a:rPr sz="2325" b="1">
                <a:solidFill>
                  <a:srgbClr val="52656B"/>
                </a:solidFill>
                <a:latin typeface="Helvetica Neue"/>
                <a:ea typeface="Helvetica Neue"/>
                <a:cs typeface="Helvetica Neue"/>
              </a:rPr>
              <a:t>West Village   -15</a:t>
            </a:r>
          </a:p>
        </p:txBody>
      </p:sp>
      <p:sp>
        <p:nvSpPr>
          <p:cNvPr id="16" name="">
            <a:extLst xmlns:a="http://schemas.openxmlformats.org/drawingml/2006/main">
              <a:ext uri="{FF2B5EF4-FFF2-40B4-BE49-F238E27FC236}">
                <a16:creationId xmlns:a16="http://schemas.microsoft.com/office/drawing/2014/main" id="{C5355B59-2DCF-4BF4-A607-8D7400F565D2}"/>
              </a:ext>
            </a:extLst>
          </p:cNvPr>
          <p:cNvSpPr>
            <a:spLocks xmlns:a="http://schemas.openxmlformats.org/drawingml/2006/main" noGrp="1"/>
          </p:cNvSpPr>
          <p:nvPr/>
        </p:nvSpPr>
        <p:spPr>
          <a:xfrm xmlns:a="http://schemas.openxmlformats.org/drawingml/2006/main">
            <a:off x="6858000" y="494347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31 complaints · 4.3% modeled risk</a:t>
            </a:r>
          </a:p>
        </p:txBody>
      </p:sp>
      <p:sp>
        <p:nvSpPr>
          <p:cNvPr id="17" name="">
            <a:extLst xmlns:a="http://schemas.openxmlformats.org/drawingml/2006/main">
              <a:ext uri="{FF2B5EF4-FFF2-40B4-BE49-F238E27FC236}">
                <a16:creationId xmlns:a16="http://schemas.microsoft.com/office/drawing/2014/main" id="{904B30AD-BA35-4A34-AB99-8D5DD335A5DA}"/>
              </a:ext>
            </a:extLst>
          </p:cNvPr>
          <p:cNvSpPr>
            <a:spLocks xmlns:a="http://schemas.openxmlformats.org/drawingml/2006/main" noGrp="1"/>
          </p:cNvSpPr>
          <p:nvPr/>
        </p:nvSpPr>
        <p:spPr>
          <a:xfrm xmlns:a="http://schemas.openxmlformats.org/drawingml/2006/main">
            <a:off x="6858000" y="5743575"/>
            <a:ext cx="457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56B"/>
                </a:solidFill>
                <a:latin typeface="Helvetica Neue"/>
                <a:ea typeface="Helvetica Neue"/>
                <a:cs typeface="Helvetica Neue"/>
              </a:defRPr>
            </a:pPr>
            <a:r>
              <a:rPr sz="1425" b="0">
                <a:solidFill>
                  <a:srgbClr val="52656B"/>
                </a:solidFill>
                <a:latin typeface="Helvetica Neue"/>
                <a:ea typeface="Helvetica Neue"/>
                <a:cs typeface="Helvetica Neue"/>
              </a:rPr>
              <a:t>Prior 12 months · September 2026 export</a:t>
            </a:r>
          </a:p>
        </p:txBody>
      </p:sp>
    </p:spTree>
    <p:extLst>
      <p:ext uri="{BB962C8B-B14F-4D97-AF65-F5344CB8AC3E}">
        <p14:creationId xmlns:p14="http://schemas.microsoft.com/office/powerpoint/2010/main" val="1426142696"/>
      </p:ext>
    </p:extLst>
  </p:cSld>
</p:sld>
</file>

<file path=ppt/slides/slide3.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1CAA9D-61CE-4732-8A5A-AD9CB3448650}"/>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The ranking finds more active signs</a:t>
            </a:r>
          </a:p>
        </p:txBody>
      </p:sp>
      <p:sp>
        <p:nvSpPr>
          <p:cNvPr id="2" name="">
            <a:extLst xmlns:a="http://schemas.openxmlformats.org/drawingml/2006/main">
              <a:ext uri="{FF2B5EF4-FFF2-40B4-BE49-F238E27FC236}">
                <a16:creationId xmlns:a16="http://schemas.microsoft.com/office/drawing/2014/main" id="{E278CA25-A952-4291-964A-E4F8B0FE2A46}"/>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F1CECE9-325C-43E5-ACB9-880B2C85C0C0}"/>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EA6C4782-24EA-4DE2-AFE3-46A932E6969A}"/>
              </a:ext>
            </a:extLst>
          </p:cNvPr>
          <p:cNvSpPr>
            <a:spLocks xmlns:a="http://schemas.openxmlformats.org/drawingml/2006/main" noGrp="1"/>
          </p:cNvSpPr>
          <p:nvPr/>
        </p:nvSpPr>
        <p:spPr>
          <a:xfrm xmlns:a="http://schemas.openxmlformats.org/drawingml/2006/main">
            <a:off x="762000" y="1485900"/>
            <a:ext cx="35147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087E83"/>
                </a:solidFill>
                <a:latin typeface="Helvetica Neue"/>
                <a:ea typeface="Helvetica Neue"/>
                <a:cs typeface="Helvetica Neue"/>
              </a:defRPr>
            </a:pPr>
            <a:r>
              <a:rPr sz="6600" b="1">
                <a:solidFill>
                  <a:srgbClr val="087E83"/>
                </a:solidFill>
                <a:latin typeface="Helvetica Neue"/>
                <a:ea typeface="Helvetica Neue"/>
                <a:cs typeface="Helvetica Neue"/>
              </a:rPr>
              <a:t>19.5%</a:t>
            </a:r>
          </a:p>
        </p:txBody>
      </p:sp>
      <p:sp>
        <p:nvSpPr>
          <p:cNvPr id="5" name="">
            <a:extLst xmlns:a="http://schemas.openxmlformats.org/drawingml/2006/main">
              <a:ext uri="{FF2B5EF4-FFF2-40B4-BE49-F238E27FC236}">
                <a16:creationId xmlns:a16="http://schemas.microsoft.com/office/drawing/2014/main" id="{20C51422-519E-4394-8601-1AF643C45E57}"/>
              </a:ext>
            </a:extLst>
          </p:cNvPr>
          <p:cNvSpPr>
            <a:spLocks xmlns:a="http://schemas.openxmlformats.org/drawingml/2006/main" noGrp="1"/>
          </p:cNvSpPr>
          <p:nvPr/>
        </p:nvSpPr>
        <p:spPr>
          <a:xfrm xmlns:a="http://schemas.openxmlformats.org/drawingml/2006/main">
            <a:off x="4229100" y="1695450"/>
            <a:ext cx="4048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D96C50"/>
                </a:solidFill>
                <a:latin typeface="Helvetica Neue"/>
                <a:ea typeface="Helvetica Neue"/>
                <a:cs typeface="Helvetica Neue"/>
              </a:defRPr>
            </a:pPr>
            <a:r>
              <a:rPr sz="3900" b="1">
                <a:solidFill>
                  <a:srgbClr val="D96C50"/>
                </a:solidFill>
                <a:latin typeface="Helvetica Neue"/>
                <a:ea typeface="Helvetica Neue"/>
                <a:cs typeface="Helvetica Neue"/>
              </a:rPr>
              <a:t>vs 15.2%</a:t>
            </a:r>
          </a:p>
        </p:txBody>
      </p:sp>
      <p:sp>
        <p:nvSpPr>
          <p:cNvPr id="6" name="">
            <a:extLst xmlns:a="http://schemas.openxmlformats.org/drawingml/2006/main">
              <a:ext uri="{FF2B5EF4-FFF2-40B4-BE49-F238E27FC236}">
                <a16:creationId xmlns:a16="http://schemas.microsoft.com/office/drawing/2014/main" id="{55D625EC-92D3-43BC-8060-5946AA9DC236}"/>
              </a:ext>
            </a:extLst>
          </p:cNvPr>
          <p:cNvSpPr>
            <a:spLocks xmlns:a="http://schemas.openxmlformats.org/drawingml/2006/main" noGrp="1"/>
          </p:cNvSpPr>
          <p:nvPr/>
        </p:nvSpPr>
        <p:spPr>
          <a:xfrm xmlns:a="http://schemas.openxmlformats.org/drawingml/2006/main">
            <a:off x="762000" y="25527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Model B risk   /   prior 12-month 311 complaints</a:t>
            </a:r>
          </a:p>
        </p:txBody>
      </p:sp>
      <p:graphicFrame>
        <p:nvGraphicFramePr>
          <p:cNvPr id="15" name="Chart"/>
          <p:cNvGraphicFramePr/>
          <p:nvPr/>
        </p:nvGraphicFramePr>
        <p:xfrm>
          <a:off xmlns:a="http://schemas.openxmlformats.org/drawingml/2006/main" x="762000" y="3200400"/>
          <a:ext xmlns:a="http://schemas.openxmlformats.org/drawingml/2006/main" cx="10477500" cy="2390775"/>
        </p:xfrm>
        <a:graphic xmlns:a="http://schemas.openxmlformats.org/drawingml/2006/main">
          <a:graphicData uri="http://schemas.openxmlformats.org/drawingml/2006/chart">
            <c:chart xmlns:r="http://schemas.openxmlformats.org/officeDocument/2006/relationships" xmlns:c="http://schemas.openxmlformats.org/drawingml/2006/chart" r:id="R1a28c53f68a24cad"/>
          </a:graphicData>
        </a:graphic>
      </p:graphicFrame>
      <p:sp>
        <p:nvSpPr>
          <p:cNvPr id="8" name="">
            <a:extLst xmlns:a="http://schemas.openxmlformats.org/drawingml/2006/main">
              <a:ext uri="{FF2B5EF4-FFF2-40B4-BE49-F238E27FC236}">
                <a16:creationId xmlns:a16="http://schemas.microsoft.com/office/drawing/2014/main" id="{FF9E14EC-264E-48B2-8F8B-BF2A674F0BF1}"/>
              </a:ext>
            </a:extLst>
          </p:cNvPr>
          <p:cNvSpPr>
            <a:spLocks xmlns:a="http://schemas.openxmlformats.org/drawingml/2006/main" noGrp="1"/>
          </p:cNvSpPr>
          <p:nvPr/>
        </p:nvSpPr>
        <p:spPr>
          <a:xfrm xmlns:a="http://schemas.openxmlformats.org/drawingml/2006/main">
            <a:off x="762000" y="56769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2656B"/>
                </a:solidFill>
                <a:latin typeface="Helvetica Neue"/>
                <a:ea typeface="Helvetica Neue"/>
                <a:cs typeface="Helvetica Neue"/>
              </a:defRPr>
            </a:pPr>
            <a:r>
              <a:rPr sz="1575" b="0">
                <a:solidFill>
                  <a:srgbClr val="52656B"/>
                </a:solidFill>
                <a:latin typeface="Helvetica Neue"/>
                <a:ea typeface="Helvetica Neue"/>
                <a:cs typeface="Helvetica Neue"/>
              </a:rPr>
              <a:t>Mean monthly share of swept lots with active signs. Top 50 swept cells each month, 119 months (2016–2026).</a:t>
            </a:r>
          </a:p>
        </p:txBody>
      </p:sp>
    </p:spTree>
    <p:extLst>
      <p:ext uri="{BB962C8B-B14F-4D97-AF65-F5344CB8AC3E}">
        <p14:creationId xmlns:p14="http://schemas.microsoft.com/office/powerpoint/2010/main" val="1689835051"/>
      </p:ext>
    </p:extLst>
  </p:cSld>
</p:sld>
</file>

<file path=ppt/slides/slide4.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7EB5F30-25A9-447C-9F0D-0E731A2C9DA1}"/>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Recorded footage reaches the map</a:t>
            </a:r>
          </a:p>
        </p:txBody>
      </p:sp>
      <p:sp>
        <p:nvSpPr>
          <p:cNvPr id="2" name="">
            <a:extLst xmlns:a="http://schemas.openxmlformats.org/drawingml/2006/main">
              <a:ext uri="{FF2B5EF4-FFF2-40B4-BE49-F238E27FC236}">
                <a16:creationId xmlns:a16="http://schemas.microsoft.com/office/drawing/2014/main" id="{B7AD8B78-EB02-48AA-94CE-F6D726FF1234}"/>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9A47D60-7F2C-4B1C-867C-B7BB5AC5895C}"/>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744F62C9-D54F-476E-A9C6-DF84823B08FE}"/>
              </a:ext>
            </a:extLst>
          </p:cNvPr>
          <p:cNvSpPr>
            <a:spLocks xmlns:a="http://schemas.openxmlformats.org/drawingml/2006/main" noGrp="1"/>
          </p:cNvSpPr>
          <p:nvPr/>
        </p:nvSpPr>
        <p:spPr>
          <a:xfrm xmlns:a="http://schemas.openxmlformats.org/drawingml/2006/main">
            <a:off x="762000" y="19050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087E83"/>
                </a:solidFill>
                <a:latin typeface="Helvetica Neue"/>
                <a:ea typeface="Helvetica Neue"/>
                <a:cs typeface="Helvetica Neue"/>
              </a:defRPr>
            </a:pPr>
            <a:r>
              <a:rPr sz="4275" b="1">
                <a:solidFill>
                  <a:srgbClr val="087E83"/>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0AD65C0F-937E-4A5B-BD03-10049E52E070}"/>
              </a:ext>
            </a:extLst>
          </p:cNvPr>
          <p:cNvSpPr>
            <a:spLocks xmlns:a="http://schemas.openxmlformats.org/drawingml/2006/main" noGrp="1"/>
          </p:cNvSpPr>
          <p:nvPr/>
        </p:nvSpPr>
        <p:spPr>
          <a:xfrm xmlns:a="http://schemas.openxmlformats.org/drawingml/2006/main">
            <a:off x="762000" y="2800350"/>
            <a:ext cx="223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02635"/>
                </a:solidFill>
                <a:latin typeface="Helvetica Neue"/>
                <a:ea typeface="Helvetica Neue"/>
                <a:cs typeface="Helvetica Neue"/>
              </a:defRPr>
            </a:pPr>
            <a:r>
              <a:rPr sz="2025" b="1">
                <a:solidFill>
                  <a:srgbClr val="102635"/>
                </a:solidFill>
                <a:latin typeface="Helvetica Neue"/>
                <a:ea typeface="Helvetica Neue"/>
                <a:cs typeface="Helvetica Neue"/>
              </a:rPr>
              <a:t>Pick a site</a:t>
            </a:r>
          </a:p>
        </p:txBody>
      </p:sp>
      <p:sp>
        <p:nvSpPr>
          <p:cNvPr id="6" name="">
            <a:extLst xmlns:a="http://schemas.openxmlformats.org/drawingml/2006/main">
              <a:ext uri="{FF2B5EF4-FFF2-40B4-BE49-F238E27FC236}">
                <a16:creationId xmlns:a16="http://schemas.microsoft.com/office/drawing/2014/main" id="{633B3C2D-88D0-4F94-8AE5-AFE742BEFE20}"/>
              </a:ext>
            </a:extLst>
          </p:cNvPr>
          <p:cNvSpPr>
            <a:spLocks xmlns:a="http://schemas.openxmlformats.org/drawingml/2006/main" noGrp="1"/>
          </p:cNvSpPr>
          <p:nvPr/>
        </p:nvSpPr>
        <p:spPr>
          <a:xfrm xmlns:a="http://schemas.openxmlformats.org/drawingml/2006/main">
            <a:off x="762000" y="3400425"/>
            <a:ext cx="2238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Rank risk × data gap;</a:t>
            </a:r>
          </a:p>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snap to a tree pit</a:t>
            </a:r>
          </a:p>
        </p:txBody>
      </p:sp>
      <p:sp>
        <p:nvSpPr>
          <p:cNvPr id="7" name="">
            <a:extLst xmlns:a="http://schemas.openxmlformats.org/drawingml/2006/main">
              <a:ext uri="{FF2B5EF4-FFF2-40B4-BE49-F238E27FC236}">
                <a16:creationId xmlns:a16="http://schemas.microsoft.com/office/drawing/2014/main" id="{1BC22A14-8B3D-4B7C-9BB8-77A1CD04436B}"/>
              </a:ext>
            </a:extLst>
          </p:cNvPr>
          <p:cNvSpPr>
            <a:spLocks xmlns:a="http://schemas.openxmlformats.org/drawingml/2006/main" noGrp="1"/>
          </p:cNvSpPr>
          <p:nvPr/>
        </p:nvSpPr>
        <p:spPr>
          <a:xfrm xmlns:a="http://schemas.openxmlformats.org/drawingml/2006/main">
            <a:off x="3457575" y="19050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087E83"/>
                </a:solidFill>
                <a:latin typeface="Helvetica Neue"/>
                <a:ea typeface="Helvetica Neue"/>
                <a:cs typeface="Helvetica Neue"/>
              </a:defRPr>
            </a:pPr>
            <a:r>
              <a:rPr sz="4275" b="1">
                <a:solidFill>
                  <a:srgbClr val="087E83"/>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D0FEC2D3-8CC0-481B-A718-EA78F8F8C2F5}"/>
              </a:ext>
            </a:extLst>
          </p:cNvPr>
          <p:cNvSpPr>
            <a:spLocks xmlns:a="http://schemas.openxmlformats.org/drawingml/2006/main" noGrp="1"/>
          </p:cNvSpPr>
          <p:nvPr/>
        </p:nvSpPr>
        <p:spPr>
          <a:xfrm xmlns:a="http://schemas.openxmlformats.org/drawingml/2006/main">
            <a:off x="3457575" y="2800350"/>
            <a:ext cx="223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02635"/>
                </a:solidFill>
                <a:latin typeface="Helvetica Neue"/>
                <a:ea typeface="Helvetica Neue"/>
                <a:cs typeface="Helvetica Neue"/>
              </a:defRPr>
            </a:pPr>
            <a:r>
              <a:rPr sz="2025" b="1">
                <a:solidFill>
                  <a:srgbClr val="102635"/>
                </a:solidFill>
                <a:latin typeface="Helvetica Neue"/>
                <a:ea typeface="Helvetica Neue"/>
                <a:cs typeface="Helvetica Neue"/>
              </a:rPr>
              <a:t>See the prop</a:t>
            </a:r>
          </a:p>
        </p:txBody>
      </p:sp>
      <p:sp>
        <p:nvSpPr>
          <p:cNvPr id="9" name="">
            <a:extLst xmlns:a="http://schemas.openxmlformats.org/drawingml/2006/main">
              <a:ext uri="{FF2B5EF4-FFF2-40B4-BE49-F238E27FC236}">
                <a16:creationId xmlns:a16="http://schemas.microsoft.com/office/drawing/2014/main" id="{77F20C97-6B48-4765-A287-89FFC09D881A}"/>
              </a:ext>
            </a:extLst>
          </p:cNvPr>
          <p:cNvSpPr>
            <a:spLocks xmlns:a="http://schemas.openxmlformats.org/drawingml/2006/main" noGrp="1"/>
          </p:cNvSpPr>
          <p:nvPr/>
        </p:nvSpPr>
        <p:spPr>
          <a:xfrm xmlns:a="http://schemas.openxmlformats.org/drawingml/2006/main">
            <a:off x="3457575" y="3400425"/>
            <a:ext cx="2238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Pi 5 + NoIR camera;</a:t>
            </a:r>
          </a:p>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PIR wakes capture</a:t>
            </a:r>
          </a:p>
        </p:txBody>
      </p:sp>
      <p:sp>
        <p:nvSpPr>
          <p:cNvPr id="10" name="">
            <a:extLst xmlns:a="http://schemas.openxmlformats.org/drawingml/2006/main">
              <a:ext uri="{FF2B5EF4-FFF2-40B4-BE49-F238E27FC236}">
                <a16:creationId xmlns:a16="http://schemas.microsoft.com/office/drawing/2014/main" id="{436BF930-6905-40DD-B19E-701E81F1DF0C}"/>
              </a:ext>
            </a:extLst>
          </p:cNvPr>
          <p:cNvSpPr>
            <a:spLocks xmlns:a="http://schemas.openxmlformats.org/drawingml/2006/main" noGrp="1"/>
          </p:cNvSpPr>
          <p:nvPr/>
        </p:nvSpPr>
        <p:spPr>
          <a:xfrm xmlns:a="http://schemas.openxmlformats.org/drawingml/2006/main">
            <a:off x="6153150" y="19050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087E83"/>
                </a:solidFill>
                <a:latin typeface="Helvetica Neue"/>
                <a:ea typeface="Helvetica Neue"/>
                <a:cs typeface="Helvetica Neue"/>
              </a:defRPr>
            </a:pPr>
            <a:r>
              <a:rPr sz="4275" b="1">
                <a:solidFill>
                  <a:srgbClr val="087E83"/>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9AED57DA-F6D7-4ED2-907F-0412B084394C}"/>
              </a:ext>
            </a:extLst>
          </p:cNvPr>
          <p:cNvSpPr>
            <a:spLocks xmlns:a="http://schemas.openxmlformats.org/drawingml/2006/main" noGrp="1"/>
          </p:cNvSpPr>
          <p:nvPr/>
        </p:nvSpPr>
        <p:spPr>
          <a:xfrm xmlns:a="http://schemas.openxmlformats.org/drawingml/2006/main">
            <a:off x="6153150" y="2800350"/>
            <a:ext cx="223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02635"/>
                </a:solidFill>
                <a:latin typeface="Helvetica Neue"/>
                <a:ea typeface="Helvetica Neue"/>
                <a:cs typeface="Helvetica Neue"/>
              </a:defRPr>
            </a:pPr>
            <a:r>
              <a:rPr sz="2025" b="1">
                <a:solidFill>
                  <a:srgbClr val="102635"/>
                </a:solidFill>
                <a:latin typeface="Helvetica Neue"/>
                <a:ea typeface="Helvetica Neue"/>
                <a:cs typeface="Helvetica Neue"/>
              </a:rPr>
              <a:t>Send an event</a:t>
            </a:r>
          </a:p>
        </p:txBody>
      </p:sp>
      <p:sp>
        <p:nvSpPr>
          <p:cNvPr id="12" name="">
            <a:extLst xmlns:a="http://schemas.openxmlformats.org/drawingml/2006/main">
              <a:ext uri="{FF2B5EF4-FFF2-40B4-BE49-F238E27FC236}">
                <a16:creationId xmlns:a16="http://schemas.microsoft.com/office/drawing/2014/main" id="{5EC439F9-5F75-48DF-9F80-96314DD33B5C}"/>
              </a:ext>
            </a:extLst>
          </p:cNvPr>
          <p:cNvSpPr>
            <a:spLocks xmlns:a="http://schemas.openxmlformats.org/drawingml/2006/main" noGrp="1"/>
          </p:cNvSpPr>
          <p:nvPr/>
        </p:nvSpPr>
        <p:spPr>
          <a:xfrm xmlns:a="http://schemas.openxmlformats.org/drawingml/2006/main">
            <a:off x="6153150" y="3400425"/>
            <a:ext cx="2238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Plush model trained;</a:t>
            </a:r>
          </a:p>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live test pending</a:t>
            </a:r>
          </a:p>
        </p:txBody>
      </p:sp>
      <p:sp>
        <p:nvSpPr>
          <p:cNvPr id="13" name="">
            <a:extLst xmlns:a="http://schemas.openxmlformats.org/drawingml/2006/main">
              <a:ext uri="{FF2B5EF4-FFF2-40B4-BE49-F238E27FC236}">
                <a16:creationId xmlns:a16="http://schemas.microsoft.com/office/drawing/2014/main" id="{95C493DA-D0F8-4597-9119-E130070F7EBC}"/>
              </a:ext>
            </a:extLst>
          </p:cNvPr>
          <p:cNvSpPr>
            <a:spLocks xmlns:a="http://schemas.openxmlformats.org/drawingml/2006/main" noGrp="1"/>
          </p:cNvSpPr>
          <p:nvPr/>
        </p:nvSpPr>
        <p:spPr>
          <a:xfrm xmlns:a="http://schemas.openxmlformats.org/drawingml/2006/main">
            <a:off x="8848725" y="19050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087E83"/>
                </a:solidFill>
                <a:latin typeface="Helvetica Neue"/>
                <a:ea typeface="Helvetica Neue"/>
                <a:cs typeface="Helvetica Neue"/>
              </a:defRPr>
            </a:pPr>
            <a:r>
              <a:rPr sz="4275" b="1">
                <a:solidFill>
                  <a:srgbClr val="087E83"/>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73C49009-123B-4F39-AF29-8A3DB266603B}"/>
              </a:ext>
            </a:extLst>
          </p:cNvPr>
          <p:cNvSpPr>
            <a:spLocks xmlns:a="http://schemas.openxmlformats.org/drawingml/2006/main" noGrp="1"/>
          </p:cNvSpPr>
          <p:nvPr/>
        </p:nvSpPr>
        <p:spPr>
          <a:xfrm xmlns:a="http://schemas.openxmlformats.org/drawingml/2006/main">
            <a:off x="8848725" y="2800350"/>
            <a:ext cx="223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02635"/>
                </a:solidFill>
                <a:latin typeface="Helvetica Neue"/>
                <a:ea typeface="Helvetica Neue"/>
                <a:cs typeface="Helvetica Neue"/>
              </a:defRPr>
            </a:pPr>
            <a:r>
              <a:rPr sz="2025" b="1">
                <a:solidFill>
                  <a:srgbClr val="102635"/>
                </a:solidFill>
                <a:latin typeface="Helvetica Neue"/>
                <a:ea typeface="Helvetica Neue"/>
                <a:cs typeface="Helvetica Neue"/>
              </a:rPr>
              <a:t>Update map</a:t>
            </a:r>
          </a:p>
        </p:txBody>
      </p:sp>
      <p:sp>
        <p:nvSpPr>
          <p:cNvPr id="15" name="">
            <a:extLst xmlns:a="http://schemas.openxmlformats.org/drawingml/2006/main">
              <a:ext uri="{FF2B5EF4-FFF2-40B4-BE49-F238E27FC236}">
                <a16:creationId xmlns:a16="http://schemas.microsoft.com/office/drawing/2014/main" id="{A15D3663-CE01-4DDA-B113-0C2063EA24ED}"/>
              </a:ext>
            </a:extLst>
          </p:cNvPr>
          <p:cNvSpPr>
            <a:spLocks xmlns:a="http://schemas.openxmlformats.org/drawingml/2006/main" noGrp="1"/>
          </p:cNvSpPr>
          <p:nvPr/>
        </p:nvSpPr>
        <p:spPr>
          <a:xfrm xmlns:a="http://schemas.openxmlformats.org/drawingml/2006/main">
            <a:off x="8848725" y="3400425"/>
            <a:ext cx="2238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Chosen Beta prior</a:t>
            </a:r>
          </a:p>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updates the cell</a:t>
            </a:r>
          </a:p>
        </p:txBody>
      </p:sp>
      <p:sp>
        <p:nvSpPr>
          <p:cNvPr id="16" name="">
            <a:extLst xmlns:a="http://schemas.openxmlformats.org/drawingml/2006/main">
              <a:ext uri="{FF2B5EF4-FFF2-40B4-BE49-F238E27FC236}">
                <a16:creationId xmlns:a16="http://schemas.microsoft.com/office/drawing/2014/main" id="{315A895B-9E96-4FC5-98A9-128D7C16D72C}"/>
              </a:ext>
            </a:extLst>
          </p:cNvPr>
          <p:cNvSpPr>
            <a:spLocks xmlns:a="http://schemas.openxmlformats.org/drawingml/2006/main" noGrp="1"/>
          </p:cNvSpPr>
          <p:nvPr/>
        </p:nvSpPr>
        <p:spPr>
          <a:xfrm xmlns:a="http://schemas.openxmlformats.org/drawingml/2006/main">
            <a:off x="3038475" y="2743200"/>
            <a:ext cx="409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D96C50"/>
                </a:solidFill>
                <a:latin typeface="Helvetica Neue"/>
                <a:ea typeface="Helvetica Neue"/>
                <a:cs typeface="Helvetica Neue"/>
              </a:defRPr>
            </a:pPr>
            <a:r>
              <a:rPr sz="2850" b="1">
                <a:solidFill>
                  <a:srgbClr val="D96C50"/>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64432F68-5F73-4EE9-8F13-9403A6A056FA}"/>
              </a:ext>
            </a:extLst>
          </p:cNvPr>
          <p:cNvSpPr>
            <a:spLocks xmlns:a="http://schemas.openxmlformats.org/drawingml/2006/main" noGrp="1"/>
          </p:cNvSpPr>
          <p:nvPr/>
        </p:nvSpPr>
        <p:spPr>
          <a:xfrm xmlns:a="http://schemas.openxmlformats.org/drawingml/2006/main">
            <a:off x="5734050" y="2743200"/>
            <a:ext cx="409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D96C50"/>
                </a:solidFill>
                <a:latin typeface="Helvetica Neue"/>
                <a:ea typeface="Helvetica Neue"/>
                <a:cs typeface="Helvetica Neue"/>
              </a:defRPr>
            </a:pPr>
            <a:r>
              <a:rPr sz="2850" b="1">
                <a:solidFill>
                  <a:srgbClr val="D96C50"/>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B69266EF-B3BD-4005-9F10-4EDA55EBBFCE}"/>
              </a:ext>
            </a:extLst>
          </p:cNvPr>
          <p:cNvSpPr>
            <a:spLocks xmlns:a="http://schemas.openxmlformats.org/drawingml/2006/main" noGrp="1"/>
          </p:cNvSpPr>
          <p:nvPr/>
        </p:nvSpPr>
        <p:spPr>
          <a:xfrm xmlns:a="http://schemas.openxmlformats.org/drawingml/2006/main">
            <a:off x="8429625" y="2743200"/>
            <a:ext cx="409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D96C50"/>
                </a:solidFill>
                <a:latin typeface="Helvetica Neue"/>
                <a:ea typeface="Helvetica Neue"/>
                <a:cs typeface="Helvetica Neue"/>
              </a:defRPr>
            </a:pPr>
            <a:r>
              <a:rPr sz="2850" b="1">
                <a:solidFill>
                  <a:srgbClr val="D96C50"/>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C16BF63E-82C3-4F5C-8FE9-BB4BBB57CAAB}"/>
              </a:ext>
            </a:extLst>
          </p:cNvPr>
          <p:cNvSpPr>
            <a:spLocks xmlns:a="http://schemas.openxmlformats.org/drawingml/2006/main" noGrp="1"/>
          </p:cNvSpPr>
          <p:nvPr/>
        </p:nvSpPr>
        <p:spPr>
          <a:xfrm xmlns:a="http://schemas.openxmlformats.org/drawingml/2006/main">
            <a:off x="762000" y="4895850"/>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3E84834-287F-4988-A8D6-8DB4B3D37F9F}"/>
              </a:ext>
            </a:extLst>
          </p:cNvPr>
          <p:cNvSpPr>
            <a:spLocks xmlns:a="http://schemas.openxmlformats.org/drawingml/2006/main" noGrp="1"/>
          </p:cNvSpPr>
          <p:nvPr/>
        </p:nvSpPr>
        <p:spPr>
          <a:xfrm xmlns:a="http://schemas.openxmlformats.org/drawingml/2006/main">
            <a:off x="762000" y="5153025"/>
            <a:ext cx="190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Verified replay</a:t>
            </a:r>
          </a:p>
        </p:txBody>
      </p:sp>
      <p:sp>
        <p:nvSpPr>
          <p:cNvPr id="21" name="">
            <a:extLst xmlns:a="http://schemas.openxmlformats.org/drawingml/2006/main">
              <a:ext uri="{FF2B5EF4-FFF2-40B4-BE49-F238E27FC236}">
                <a16:creationId xmlns:a16="http://schemas.microsoft.com/office/drawing/2014/main" id="{BB15BAE0-EA80-4A18-B1E5-AEA951FD7283}"/>
              </a:ext>
            </a:extLst>
          </p:cNvPr>
          <p:cNvSpPr>
            <a:spLocks xmlns:a="http://schemas.openxmlformats.org/drawingml/2006/main" noGrp="1"/>
          </p:cNvSpPr>
          <p:nvPr/>
        </p:nvSpPr>
        <p:spPr>
          <a:xfrm xmlns:a="http://schemas.openxmlformats.org/drawingml/2006/main">
            <a:off x="2667000" y="51435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1 event · score 9.2% → 13.0% · candidate rank 11 → 2</a:t>
            </a:r>
          </a:p>
        </p:txBody>
      </p:sp>
    </p:spTree>
    <p:extLst>
      <p:ext uri="{BB962C8B-B14F-4D97-AF65-F5344CB8AC3E}">
        <p14:creationId xmlns:p14="http://schemas.microsoft.com/office/powerpoint/2010/main" val="1933854597"/>
      </p:ext>
    </p:extLst>
  </p:cSld>
</p:sld>
</file>

<file path=ppt/slides/slide5.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DCEA60C-A11C-481A-BBEA-EFC427F69967}"/>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What is real today</a:t>
            </a:r>
          </a:p>
        </p:txBody>
      </p:sp>
      <p:sp>
        <p:nvSpPr>
          <p:cNvPr id="2" name="">
            <a:extLst xmlns:a="http://schemas.openxmlformats.org/drawingml/2006/main">
              <a:ext uri="{FF2B5EF4-FFF2-40B4-BE49-F238E27FC236}">
                <a16:creationId xmlns:a16="http://schemas.microsoft.com/office/drawing/2014/main" id="{1E1E752D-1556-4944-AE38-0E9AA950C5F2}"/>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16C21F3-92E4-4363-9F9C-47D001203047}"/>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0119A2C7-8A0C-41B3-AF5F-F0E033A89D9B}"/>
              </a:ext>
            </a:extLst>
          </p:cNvPr>
          <p:cNvSpPr>
            <a:spLocks xmlns:a="http://schemas.openxmlformats.org/drawingml/2006/main" noGrp="1"/>
          </p:cNvSpPr>
          <p:nvPr/>
        </p:nvSpPr>
        <p:spPr>
          <a:xfrm xmlns:a="http://schemas.openxmlformats.org/drawingml/2006/main">
            <a:off x="762000" y="164782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87E83"/>
                </a:solidFill>
                <a:latin typeface="Helvetica Neue"/>
                <a:ea typeface="Helvetica Neue"/>
                <a:cs typeface="Helvetica Neue"/>
              </a:defRPr>
            </a:pPr>
            <a:r>
              <a:rPr sz="2700" b="1">
                <a:solidFill>
                  <a:srgbClr val="087E83"/>
                </a:solidFill>
                <a:latin typeface="Helvetica Neue"/>
                <a:ea typeface="Helvetica Neue"/>
                <a:cs typeface="Helvetica Neue"/>
              </a:rPr>
              <a:t>Real</a:t>
            </a:r>
          </a:p>
        </p:txBody>
      </p:sp>
      <p:sp>
        <p:nvSpPr>
          <p:cNvPr id="5" name="">
            <a:extLst xmlns:a="http://schemas.openxmlformats.org/drawingml/2006/main">
              <a:ext uri="{FF2B5EF4-FFF2-40B4-BE49-F238E27FC236}">
                <a16:creationId xmlns:a16="http://schemas.microsoft.com/office/drawing/2014/main" id="{7307DCC1-6083-4F31-8753-002ABADE3F3E}"/>
              </a:ext>
            </a:extLst>
          </p:cNvPr>
          <p:cNvSpPr>
            <a:spLocks xmlns:a="http://schemas.openxmlformats.org/drawingml/2006/main" noGrp="1"/>
          </p:cNvSpPr>
          <p:nvPr/>
        </p:nvSpPr>
        <p:spPr>
          <a:xfrm xmlns:a="http://schemas.openxmlformats.org/drawingml/2006/main">
            <a:off x="762000" y="2305050"/>
            <a:ext cx="50482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NYC data and sweep outcomes</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Cell models and a 119-month backtest</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Pi camera, PIR and IR capture</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verified by onsite team</a:t>
            </a:r>
          </a:p>
        </p:txBody>
      </p:sp>
      <p:sp>
        <p:nvSpPr>
          <p:cNvPr id="6" name="">
            <a:extLst xmlns:a="http://schemas.openxmlformats.org/drawingml/2006/main">
              <a:ext uri="{FF2B5EF4-FFF2-40B4-BE49-F238E27FC236}">
                <a16:creationId xmlns:a16="http://schemas.microsoft.com/office/drawing/2014/main" id="{34EA45A3-77D7-4289-BBD1-3CBBD7F2DB68}"/>
              </a:ext>
            </a:extLst>
          </p:cNvPr>
          <p:cNvSpPr>
            <a:spLocks xmlns:a="http://schemas.openxmlformats.org/drawingml/2006/main" noGrp="1"/>
          </p:cNvSpPr>
          <p:nvPr/>
        </p:nvSpPr>
        <p:spPr>
          <a:xfrm xmlns:a="http://schemas.openxmlformats.org/drawingml/2006/main">
            <a:off x="6076950" y="1666875"/>
            <a:ext cx="19050" cy="335280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C7029C4-9246-4D4D-9A49-BF51D726652A}"/>
              </a:ext>
            </a:extLst>
          </p:cNvPr>
          <p:cNvSpPr>
            <a:spLocks xmlns:a="http://schemas.openxmlformats.org/drawingml/2006/main" noGrp="1"/>
          </p:cNvSpPr>
          <p:nvPr/>
        </p:nvSpPr>
        <p:spPr>
          <a:xfrm xmlns:a="http://schemas.openxmlformats.org/drawingml/2006/main">
            <a:off x="6629400" y="1647825"/>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D96C50"/>
                </a:solidFill>
                <a:latin typeface="Helvetica Neue"/>
                <a:ea typeface="Helvetica Neue"/>
                <a:cs typeface="Helvetica Neue"/>
              </a:defRPr>
            </a:pPr>
            <a:r>
              <a:rPr sz="2700" b="1">
                <a:solidFill>
                  <a:srgbClr val="D96C50"/>
                </a:solidFill>
                <a:latin typeface="Helvetica Neue"/>
                <a:ea typeface="Helvetica Neue"/>
                <a:cs typeface="Helvetica Neue"/>
              </a:rPr>
              <a:t>Demo and open work</a:t>
            </a:r>
          </a:p>
        </p:txBody>
      </p:sp>
      <p:sp>
        <p:nvSpPr>
          <p:cNvPr id="8" name="">
            <a:extLst xmlns:a="http://schemas.openxmlformats.org/drawingml/2006/main">
              <a:ext uri="{FF2B5EF4-FFF2-40B4-BE49-F238E27FC236}">
                <a16:creationId xmlns:a16="http://schemas.microsoft.com/office/drawing/2014/main" id="{52EBF789-E04C-4C0F-A09A-AD31BC072735}"/>
              </a:ext>
            </a:extLst>
          </p:cNvPr>
          <p:cNvSpPr>
            <a:spLocks xmlns:a="http://schemas.openxmlformats.org/drawingml/2006/main" noGrp="1"/>
          </p:cNvSpPr>
          <p:nvPr/>
        </p:nvSpPr>
        <p:spPr>
          <a:xfrm xmlns:a="http://schemas.openxmlformats.org/drawingml/2006/main">
            <a:off x="6629400" y="2305050"/>
            <a:ext cx="4619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Plush model: AP50 .94 close-view, .79 combined</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Recorded footage → local API → map verified</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Formal push and live Pi tests pending</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No field deployment or rat population count</a:t>
            </a:r>
          </a:p>
        </p:txBody>
      </p:sp>
      <p:sp>
        <p:nvSpPr>
          <p:cNvPr id="9" name="">
            <a:extLst xmlns:a="http://schemas.openxmlformats.org/drawingml/2006/main">
              <a:ext uri="{FF2B5EF4-FFF2-40B4-BE49-F238E27FC236}">
                <a16:creationId xmlns:a16="http://schemas.microsoft.com/office/drawing/2014/main" id="{D2E9E22E-9C76-4587-968E-B64490A4A7BB}"/>
              </a:ext>
            </a:extLst>
          </p:cNvPr>
          <p:cNvSpPr>
            <a:spLocks xmlns:a="http://schemas.openxmlformats.org/drawingml/2006/main" noGrp="1"/>
          </p:cNvSpPr>
          <p:nvPr/>
        </p:nvSpPr>
        <p:spPr>
          <a:xfrm xmlns:a="http://schemas.openxmlformats.org/drawingml/2006/main">
            <a:off x="762000" y="5057775"/>
            <a:ext cx="104775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47E74D0-4D6B-48C0-8EE1-04D12DE38FCD}"/>
              </a:ext>
            </a:extLst>
          </p:cNvPr>
          <p:cNvSpPr>
            <a:spLocks xmlns:a="http://schemas.openxmlformats.org/drawingml/2006/main" noGrp="1"/>
          </p:cNvSpPr>
          <p:nvPr/>
        </p:nvSpPr>
        <p:spPr>
          <a:xfrm xmlns:a="http://schemas.openxmlformats.org/drawingml/2006/main">
            <a:off x="762000" y="5314950"/>
            <a:ext cx="1647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Next test</a:t>
            </a:r>
          </a:p>
        </p:txBody>
      </p:sp>
      <p:sp>
        <p:nvSpPr>
          <p:cNvPr id="11" name="">
            <a:extLst xmlns:a="http://schemas.openxmlformats.org/drawingml/2006/main">
              <a:ext uri="{FF2B5EF4-FFF2-40B4-BE49-F238E27FC236}">
                <a16:creationId xmlns:a16="http://schemas.microsoft.com/office/drawing/2014/main" id="{0ED0DE80-3014-47B8-BBC9-C333274E1619}"/>
              </a:ext>
            </a:extLst>
          </p:cNvPr>
          <p:cNvSpPr>
            <a:spLocks xmlns:a="http://schemas.openxmlformats.org/drawingml/2006/main" noGrp="1"/>
          </p:cNvSpPr>
          <p:nvPr/>
        </p:nvSpPr>
        <p:spPr>
          <a:xfrm xmlns:a="http://schemas.openxmlformats.org/drawingml/2006/main">
            <a:off x="2390775" y="5267325"/>
            <a:ext cx="8905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02635"/>
                </a:solidFill>
                <a:latin typeface="Helvetica Neue"/>
                <a:ea typeface="Helvetica Neue"/>
                <a:cs typeface="Helvetica Neue"/>
              </a:defRPr>
            </a:pPr>
            <a:r>
              <a:rPr sz="2325" b="0">
                <a:solidFill>
                  <a:srgbClr val="102635"/>
                </a:solidFill>
                <a:latin typeface="Helvetica Neue"/>
                <a:ea typeface="Helvetica Neue"/>
                <a:cs typeface="Helvetica Neue"/>
              </a:rPr>
              <a:t>A supervised 50-node pilot, checked against later sweeps.</a:t>
            </a:r>
          </a:p>
        </p:txBody>
      </p:sp>
    </p:spTree>
    <p:extLst>
      <p:ext uri="{BB962C8B-B14F-4D97-AF65-F5344CB8AC3E}">
        <p14:creationId xmlns:p14="http://schemas.microsoft.com/office/powerpoint/2010/main" val="19101319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2026-09-26T23:54:13.4890000Z</dcterms:created>
  <dcterms:modified xsi:type="dcterms:W3CDTF">2026-09-26T23:54:13.4890000Z</dcterms:modified>
</coreProperties>
</file>